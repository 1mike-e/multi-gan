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3" r:id="rId8"/>
    <p:sldId id="264" r:id="rId9"/>
    <p:sldId id="270"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64" d="100"/>
          <a:sy n="64" d="100"/>
        </p:scale>
        <p:origin x="97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Ato Acquah" userId="9b5d9cbd5b7b046d" providerId="LiveId" clId="{7B8EE22A-23DC-4A34-84F9-94CD4AA482E3}"/>
    <pc:docChg chg="modSld">
      <pc:chgData name="Michael Ato Acquah" userId="9b5d9cbd5b7b046d" providerId="LiveId" clId="{7B8EE22A-23DC-4A34-84F9-94CD4AA482E3}" dt="2025-04-17T17:11:16.190" v="45" actId="14100"/>
      <pc:docMkLst>
        <pc:docMk/>
      </pc:docMkLst>
      <pc:sldChg chg="addSp modSp mod">
        <pc:chgData name="Michael Ato Acquah" userId="9b5d9cbd5b7b046d" providerId="LiveId" clId="{7B8EE22A-23DC-4A34-84F9-94CD4AA482E3}" dt="2025-04-17T17:09:41.694" v="42" actId="1076"/>
        <pc:sldMkLst>
          <pc:docMk/>
          <pc:sldMk cId="4053614442" sldId="258"/>
        </pc:sldMkLst>
        <pc:picChg chg="add mod">
          <ac:chgData name="Michael Ato Acquah" userId="9b5d9cbd5b7b046d" providerId="LiveId" clId="{7B8EE22A-23DC-4A34-84F9-94CD4AA482E3}" dt="2025-04-17T17:09:41.694" v="42" actId="1076"/>
          <ac:picMkLst>
            <pc:docMk/>
            <pc:sldMk cId="4053614442" sldId="258"/>
            <ac:picMk id="4" creationId="{7F571338-E87B-D4EC-4771-980572485309}"/>
          </ac:picMkLst>
        </pc:picChg>
      </pc:sldChg>
      <pc:sldChg chg="addSp modSp mod">
        <pc:chgData name="Michael Ato Acquah" userId="9b5d9cbd5b7b046d" providerId="LiveId" clId="{7B8EE22A-23DC-4A34-84F9-94CD4AA482E3}" dt="2025-04-17T17:11:16.190" v="45" actId="14100"/>
        <pc:sldMkLst>
          <pc:docMk/>
          <pc:sldMk cId="3718168983" sldId="260"/>
        </pc:sldMkLst>
        <pc:spChg chg="mod">
          <ac:chgData name="Michael Ato Acquah" userId="9b5d9cbd5b7b046d" providerId="LiveId" clId="{7B8EE22A-23DC-4A34-84F9-94CD4AA482E3}" dt="2025-04-17T17:06:30.006" v="39" actId="20577"/>
          <ac:spMkLst>
            <pc:docMk/>
            <pc:sldMk cId="3718168983" sldId="260"/>
            <ac:spMk id="3" creationId="{C7808E50-18FD-0B41-B940-DF548CD3B576}"/>
          </ac:spMkLst>
        </pc:spChg>
        <pc:picChg chg="add mod">
          <ac:chgData name="Michael Ato Acquah" userId="9b5d9cbd5b7b046d" providerId="LiveId" clId="{7B8EE22A-23DC-4A34-84F9-94CD4AA482E3}" dt="2025-04-17T17:11:16.190" v="45" actId="14100"/>
          <ac:picMkLst>
            <pc:docMk/>
            <pc:sldMk cId="3718168983" sldId="260"/>
            <ac:picMk id="4" creationId="{C9129C85-2221-5284-BBEB-FCB6D4A35CFF}"/>
          </ac:picMkLst>
        </pc:picChg>
      </pc:sldChg>
      <pc:sldChg chg="modSp mod">
        <pc:chgData name="Michael Ato Acquah" userId="9b5d9cbd5b7b046d" providerId="LiveId" clId="{7B8EE22A-23DC-4A34-84F9-94CD4AA482E3}" dt="2025-04-17T16:59:12.422" v="0" actId="20577"/>
        <pc:sldMkLst>
          <pc:docMk/>
          <pc:sldMk cId="1471302034" sldId="264"/>
        </pc:sldMkLst>
        <pc:graphicFrameChg chg="modGraphic">
          <ac:chgData name="Michael Ato Acquah" userId="9b5d9cbd5b7b046d" providerId="LiveId" clId="{7B8EE22A-23DC-4A34-84F9-94CD4AA482E3}" dt="2025-04-17T16:59:12.422" v="0" actId="20577"/>
          <ac:graphicFrameMkLst>
            <pc:docMk/>
            <pc:sldMk cId="1471302034" sldId="264"/>
            <ac:graphicFrameMk id="7" creationId="{268E1097-8F8F-02B5-50FB-9E1D71A76676}"/>
          </ac:graphicFrameMkLst>
        </pc:graphicFrameChg>
      </pc:sldChg>
      <pc:sldChg chg="modSp mod">
        <pc:chgData name="Michael Ato Acquah" userId="9b5d9cbd5b7b046d" providerId="LiveId" clId="{7B8EE22A-23DC-4A34-84F9-94CD4AA482E3}" dt="2025-04-17T16:59:18.801" v="1" actId="20577"/>
        <pc:sldMkLst>
          <pc:docMk/>
          <pc:sldMk cId="3198768528" sldId="270"/>
        </pc:sldMkLst>
        <pc:graphicFrameChg chg="modGraphic">
          <ac:chgData name="Michael Ato Acquah" userId="9b5d9cbd5b7b046d" providerId="LiveId" clId="{7B8EE22A-23DC-4A34-84F9-94CD4AA482E3}" dt="2025-04-17T16:59:18.801" v="1" actId="20577"/>
          <ac:graphicFrameMkLst>
            <pc:docMk/>
            <pc:sldMk cId="3198768528" sldId="270"/>
            <ac:graphicFrameMk id="7" creationId="{4513FC13-05EC-DE58-F649-75665EE66129}"/>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4/17/2025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4/17/2025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4/17/2025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4/17/2025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4/17/2025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4/17/2025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4/17/2025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4/17/2025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4/17/2025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4/17/2025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4/17/2025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4/17/2025</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A5E16-0F4C-80CC-A817-9F050034B18B}"/>
              </a:ext>
            </a:extLst>
          </p:cNvPr>
          <p:cNvSpPr>
            <a:spLocks noGrp="1"/>
          </p:cNvSpPr>
          <p:nvPr>
            <p:ph type="ctrTitle"/>
          </p:nvPr>
        </p:nvSpPr>
        <p:spPr/>
        <p:txBody>
          <a:bodyPr>
            <a:normAutofit fontScale="90000"/>
          </a:bodyPr>
          <a:lstStyle/>
          <a:p>
            <a:r>
              <a:rPr lang="en-US" dirty="0"/>
              <a:t>Generative Multi-Adversarial Networks</a:t>
            </a:r>
          </a:p>
        </p:txBody>
      </p:sp>
      <p:sp>
        <p:nvSpPr>
          <p:cNvPr id="3" name="Subtitle 2">
            <a:extLst>
              <a:ext uri="{FF2B5EF4-FFF2-40B4-BE49-F238E27FC236}">
                <a16:creationId xmlns:a16="http://schemas.microsoft.com/office/drawing/2014/main" id="{96B67F3D-001D-28BB-5549-5CC3822CF689}"/>
              </a:ext>
            </a:extLst>
          </p:cNvPr>
          <p:cNvSpPr>
            <a:spLocks noGrp="1"/>
          </p:cNvSpPr>
          <p:nvPr>
            <p:ph type="subTitle" idx="1"/>
          </p:nvPr>
        </p:nvSpPr>
        <p:spPr/>
        <p:txBody>
          <a:bodyPr/>
          <a:lstStyle/>
          <a:p>
            <a:r>
              <a:rPr lang="en-US" dirty="0"/>
              <a:t>Chineme Uba</a:t>
            </a:r>
          </a:p>
          <a:p>
            <a:r>
              <a:rPr lang="en-US" dirty="0"/>
              <a:t>Michael Acquah</a:t>
            </a:r>
          </a:p>
        </p:txBody>
      </p:sp>
    </p:spTree>
    <p:extLst>
      <p:ext uri="{BB962C8B-B14F-4D97-AF65-F5344CB8AC3E}">
        <p14:creationId xmlns:p14="http://schemas.microsoft.com/office/powerpoint/2010/main" val="3879813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4A698-763C-F7E1-CC1B-CDAC79B68A42}"/>
              </a:ext>
            </a:extLst>
          </p:cNvPr>
          <p:cNvSpPr>
            <a:spLocks noGrp="1"/>
          </p:cNvSpPr>
          <p:nvPr>
            <p:ph type="title"/>
          </p:nvPr>
        </p:nvSpPr>
        <p:spPr/>
        <p:txBody>
          <a:bodyPr/>
          <a:lstStyle/>
          <a:p>
            <a:pPr algn="l"/>
            <a:r>
              <a:rPr lang="en-US" dirty="0"/>
              <a:t>Content</a:t>
            </a:r>
          </a:p>
        </p:txBody>
      </p:sp>
      <p:sp>
        <p:nvSpPr>
          <p:cNvPr id="3" name="Content Placeholder 2">
            <a:extLst>
              <a:ext uri="{FF2B5EF4-FFF2-40B4-BE49-F238E27FC236}">
                <a16:creationId xmlns:a16="http://schemas.microsoft.com/office/drawing/2014/main" id="{703F740C-8A9D-5FBD-9336-84B62549953C}"/>
              </a:ext>
            </a:extLst>
          </p:cNvPr>
          <p:cNvSpPr>
            <a:spLocks noGrp="1"/>
          </p:cNvSpPr>
          <p:nvPr>
            <p:ph idx="1"/>
          </p:nvPr>
        </p:nvSpPr>
        <p:spPr>
          <a:xfrm>
            <a:off x="2309366" y="2052116"/>
            <a:ext cx="7796540" cy="3997828"/>
          </a:xfrm>
        </p:spPr>
        <p:txBody>
          <a:bodyPr/>
          <a:lstStyle/>
          <a:p>
            <a:r>
              <a:rPr lang="en-US" dirty="0"/>
              <a:t>Problem Motivation</a:t>
            </a:r>
          </a:p>
          <a:p>
            <a:r>
              <a:rPr lang="en-US" dirty="0"/>
              <a:t>Problem Setup and Formulation</a:t>
            </a:r>
          </a:p>
          <a:p>
            <a:r>
              <a:rPr lang="en-US" dirty="0"/>
              <a:t>Experiments</a:t>
            </a:r>
          </a:p>
          <a:p>
            <a:r>
              <a:rPr lang="en-US" dirty="0"/>
              <a:t>Challenges Faced and Learnings</a:t>
            </a:r>
          </a:p>
          <a:p>
            <a:r>
              <a:rPr lang="en-US" dirty="0"/>
              <a:t>Future Directions</a:t>
            </a:r>
          </a:p>
        </p:txBody>
      </p:sp>
    </p:spTree>
    <p:extLst>
      <p:ext uri="{BB962C8B-B14F-4D97-AF65-F5344CB8AC3E}">
        <p14:creationId xmlns:p14="http://schemas.microsoft.com/office/powerpoint/2010/main" val="315716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2BEC7-44EC-B0A8-F916-6FEF1E27EF0A}"/>
              </a:ext>
            </a:extLst>
          </p:cNvPr>
          <p:cNvSpPr>
            <a:spLocks noGrp="1"/>
          </p:cNvSpPr>
          <p:nvPr>
            <p:ph type="title"/>
          </p:nvPr>
        </p:nvSpPr>
        <p:spPr/>
        <p:txBody>
          <a:bodyPr/>
          <a:lstStyle/>
          <a:p>
            <a:pPr algn="l"/>
            <a:r>
              <a:rPr lang="en-US" dirty="0"/>
              <a:t>Problem Motivation</a:t>
            </a:r>
          </a:p>
        </p:txBody>
      </p:sp>
      <p:sp>
        <p:nvSpPr>
          <p:cNvPr id="3" name="Content Placeholder 2">
            <a:extLst>
              <a:ext uri="{FF2B5EF4-FFF2-40B4-BE49-F238E27FC236}">
                <a16:creationId xmlns:a16="http://schemas.microsoft.com/office/drawing/2014/main" id="{E3EF533E-4F49-A6A6-4EF9-6E73C097AF2F}"/>
              </a:ext>
            </a:extLst>
          </p:cNvPr>
          <p:cNvSpPr>
            <a:spLocks noGrp="1"/>
          </p:cNvSpPr>
          <p:nvPr>
            <p:ph idx="1"/>
          </p:nvPr>
        </p:nvSpPr>
        <p:spPr>
          <a:xfrm>
            <a:off x="1323848" y="1322363"/>
            <a:ext cx="9544304" cy="5120640"/>
          </a:xfrm>
        </p:spPr>
        <p:txBody>
          <a:bodyPr>
            <a:normAutofit fontScale="92500" lnSpcReduction="20000"/>
          </a:bodyPr>
          <a:lstStyle/>
          <a:p>
            <a:r>
              <a:rPr lang="en-US" dirty="0"/>
              <a:t>Training Generative Adversarial Networks (GANs) remains a challenging task due to issues such as </a:t>
            </a:r>
            <a:r>
              <a:rPr lang="en-US" b="1" dirty="0"/>
              <a:t>mode collapse </a:t>
            </a:r>
            <a:r>
              <a:rPr lang="en-US" dirty="0"/>
              <a:t>and </a:t>
            </a:r>
            <a:r>
              <a:rPr lang="en-US" b="1" dirty="0"/>
              <a:t>training instability</a:t>
            </a:r>
            <a:r>
              <a:rPr lang="en-US" dirty="0"/>
              <a:t>. These problems hinder the generator's ability to learn a diverse and realistic data distribution effectively. </a:t>
            </a:r>
          </a:p>
          <a:p>
            <a:r>
              <a:rPr lang="en-US" dirty="0"/>
              <a:t>To address this, the original GMAN framework introduces multiple discriminators to provide diverse feedback to the generator, helping improve training stability and sample quality. However, in that setup, all discriminators share the same architecture.</a:t>
            </a:r>
          </a:p>
          <a:p>
            <a:r>
              <a:rPr lang="en-US" dirty="0"/>
              <a:t>In our approach, we extend this idea by using different discriminators, each with different dropout rates and convolutional configurations to diversify the feedback even further. We propose that this architectural diversity leads to better generalization and more robust learning dynamics while using the original objective function.</a:t>
            </a:r>
          </a:p>
          <a:p>
            <a:r>
              <a:rPr lang="en-US" dirty="0"/>
              <a:t>Our goal is to enhance </a:t>
            </a:r>
            <a:r>
              <a:rPr lang="en-US" b="1" dirty="0"/>
              <a:t>training efficiency</a:t>
            </a:r>
            <a:r>
              <a:rPr lang="en-US" dirty="0"/>
              <a:t>, achieve </a:t>
            </a:r>
            <a:r>
              <a:rPr lang="en-US" b="1" dirty="0"/>
              <a:t>faster convergence</a:t>
            </a:r>
            <a:r>
              <a:rPr lang="en-US" dirty="0"/>
              <a:t>, and generate </a:t>
            </a:r>
            <a:r>
              <a:rPr lang="en-US" b="1" dirty="0"/>
              <a:t>higher-quality image </a:t>
            </a:r>
            <a:r>
              <a:rPr lang="en-US" dirty="0"/>
              <a:t>samples.</a:t>
            </a:r>
          </a:p>
        </p:txBody>
      </p:sp>
      <p:pic>
        <p:nvPicPr>
          <p:cNvPr id="4" name="Picture 3">
            <a:extLst>
              <a:ext uri="{FF2B5EF4-FFF2-40B4-BE49-F238E27FC236}">
                <a16:creationId xmlns:a16="http://schemas.microsoft.com/office/drawing/2014/main" id="{7F571338-E87B-D4EC-4771-980572485309}"/>
              </a:ext>
            </a:extLst>
          </p:cNvPr>
          <p:cNvPicPr>
            <a:picLocks noChangeAspect="1"/>
          </p:cNvPicPr>
          <p:nvPr/>
        </p:nvPicPr>
        <p:blipFill>
          <a:blip r:embed="rId2"/>
          <a:stretch>
            <a:fillRect/>
          </a:stretch>
        </p:blipFill>
        <p:spPr>
          <a:xfrm flipH="1">
            <a:off x="9247776" y="146874"/>
            <a:ext cx="1322363" cy="1322363"/>
          </a:xfrm>
          <a:prstGeom prst="rect">
            <a:avLst/>
          </a:prstGeom>
        </p:spPr>
      </p:pic>
    </p:spTree>
    <p:extLst>
      <p:ext uri="{BB962C8B-B14F-4D97-AF65-F5344CB8AC3E}">
        <p14:creationId xmlns:p14="http://schemas.microsoft.com/office/powerpoint/2010/main" val="4053614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C2239-801F-E298-6DB3-663CB4A1454C}"/>
              </a:ext>
            </a:extLst>
          </p:cNvPr>
          <p:cNvSpPr>
            <a:spLocks noGrp="1"/>
          </p:cNvSpPr>
          <p:nvPr>
            <p:ph type="title"/>
          </p:nvPr>
        </p:nvSpPr>
        <p:spPr/>
        <p:txBody>
          <a:bodyPr/>
          <a:lstStyle/>
          <a:p>
            <a:pPr algn="l"/>
            <a:r>
              <a:rPr lang="en-US" dirty="0"/>
              <a:t>Problem Setup and Formulation</a:t>
            </a:r>
          </a:p>
        </p:txBody>
      </p:sp>
      <p:sp>
        <p:nvSpPr>
          <p:cNvPr id="3" name="Content Placeholder 2">
            <a:extLst>
              <a:ext uri="{FF2B5EF4-FFF2-40B4-BE49-F238E27FC236}">
                <a16:creationId xmlns:a16="http://schemas.microsoft.com/office/drawing/2014/main" id="{37179B13-EF38-A592-FCD4-0D270780DEA4}"/>
              </a:ext>
            </a:extLst>
          </p:cNvPr>
          <p:cNvSpPr>
            <a:spLocks noGrp="1"/>
          </p:cNvSpPr>
          <p:nvPr>
            <p:ph idx="1"/>
          </p:nvPr>
        </p:nvSpPr>
        <p:spPr>
          <a:xfrm>
            <a:off x="1937464" y="2023767"/>
            <a:ext cx="8372409" cy="4307531"/>
          </a:xfrm>
        </p:spPr>
        <p:txBody>
          <a:bodyPr/>
          <a:lstStyle/>
          <a:p>
            <a:r>
              <a:rPr lang="en-US" dirty="0"/>
              <a:t>In our work, we address the training instability and mode collapse issues common in GANs by extending the GMAN approach.</a:t>
            </a:r>
          </a:p>
          <a:p>
            <a:r>
              <a:rPr lang="en-US" dirty="0"/>
              <a:t>Our work keeps the original GAN objective function unchanged, ensuring compatibility with standard training dynamics.</a:t>
            </a:r>
          </a:p>
          <a:p>
            <a:endParaRPr lang="en-US" dirty="0"/>
          </a:p>
          <a:p>
            <a:endParaRPr lang="en-US" dirty="0"/>
          </a:p>
          <a:p>
            <a:r>
              <a:rPr lang="en-US" dirty="0"/>
              <a:t>Images are evaluated by </a:t>
            </a:r>
            <a:r>
              <a:rPr lang="en-US" b="1" dirty="0"/>
              <a:t>4 discriminators per dataset</a:t>
            </a:r>
            <a:r>
              <a:rPr lang="en-US" dirty="0"/>
              <a:t>, each offering a unique architectural perspective.</a:t>
            </a:r>
          </a:p>
          <a:p>
            <a:endParaRPr lang="en-US" dirty="0"/>
          </a:p>
          <a:p>
            <a:endParaRPr lang="en-US" dirty="0"/>
          </a:p>
        </p:txBody>
      </p:sp>
      <p:pic>
        <p:nvPicPr>
          <p:cNvPr id="5" name="Picture 4">
            <a:extLst>
              <a:ext uri="{FF2B5EF4-FFF2-40B4-BE49-F238E27FC236}">
                <a16:creationId xmlns:a16="http://schemas.microsoft.com/office/drawing/2014/main" id="{2AEA6F7A-07EF-DFC3-82BC-2203F9F8F726}"/>
              </a:ext>
            </a:extLst>
          </p:cNvPr>
          <p:cNvPicPr>
            <a:picLocks noChangeAspect="1"/>
          </p:cNvPicPr>
          <p:nvPr/>
        </p:nvPicPr>
        <p:blipFill>
          <a:blip r:embed="rId2"/>
          <a:stretch>
            <a:fillRect/>
          </a:stretch>
        </p:blipFill>
        <p:spPr>
          <a:xfrm>
            <a:off x="1882127" y="3565532"/>
            <a:ext cx="8688012" cy="743054"/>
          </a:xfrm>
          <a:prstGeom prst="rect">
            <a:avLst/>
          </a:prstGeom>
        </p:spPr>
      </p:pic>
    </p:spTree>
    <p:extLst>
      <p:ext uri="{BB962C8B-B14F-4D97-AF65-F5344CB8AC3E}">
        <p14:creationId xmlns:p14="http://schemas.microsoft.com/office/powerpoint/2010/main" val="3368293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95ECE-1CBB-CC52-C471-A2A1940E32E7}"/>
              </a:ext>
            </a:extLst>
          </p:cNvPr>
          <p:cNvSpPr>
            <a:spLocks noGrp="1"/>
          </p:cNvSpPr>
          <p:nvPr>
            <p:ph type="title"/>
          </p:nvPr>
        </p:nvSpPr>
        <p:spPr/>
        <p:txBody>
          <a:bodyPr/>
          <a:lstStyle/>
          <a:p>
            <a:pPr algn="l"/>
            <a:r>
              <a:rPr lang="en-US" dirty="0"/>
              <a:t>Problem Setup and Formulation</a:t>
            </a:r>
          </a:p>
        </p:txBody>
      </p:sp>
      <p:sp>
        <p:nvSpPr>
          <p:cNvPr id="3" name="Content Placeholder 2">
            <a:extLst>
              <a:ext uri="{FF2B5EF4-FFF2-40B4-BE49-F238E27FC236}">
                <a16:creationId xmlns:a16="http://schemas.microsoft.com/office/drawing/2014/main" id="{C7808E50-18FD-0B41-B940-DF548CD3B576}"/>
              </a:ext>
            </a:extLst>
          </p:cNvPr>
          <p:cNvSpPr>
            <a:spLocks noGrp="1"/>
          </p:cNvSpPr>
          <p:nvPr>
            <p:ph idx="1"/>
          </p:nvPr>
        </p:nvSpPr>
        <p:spPr>
          <a:xfrm>
            <a:off x="1767533" y="1378634"/>
            <a:ext cx="8802606" cy="5008935"/>
          </a:xfrm>
        </p:spPr>
        <p:txBody>
          <a:bodyPr>
            <a:noAutofit/>
          </a:bodyPr>
          <a:lstStyle/>
          <a:p>
            <a:pPr>
              <a:buNone/>
            </a:pPr>
            <a:r>
              <a:rPr lang="en-US" sz="1200" b="1" dirty="0"/>
              <a:t>Discriminator Design:</a:t>
            </a:r>
            <a:endParaRPr lang="en-US" sz="1200" dirty="0"/>
          </a:p>
          <a:p>
            <a:pPr>
              <a:buFont typeface="Arial" panose="020B0604020202020204" pitchFamily="34" charset="0"/>
              <a:buChar char="•"/>
            </a:pPr>
            <a:r>
              <a:rPr lang="en-US" sz="1200" b="1" dirty="0"/>
              <a:t>Discriminator 1</a:t>
            </a:r>
            <a:r>
              <a:rPr lang="en-US" sz="1200" dirty="0"/>
              <a:t>: Baseline architecture from the GMAN paper.</a:t>
            </a:r>
          </a:p>
          <a:p>
            <a:pPr>
              <a:buFont typeface="Arial" panose="020B0604020202020204" pitchFamily="34" charset="0"/>
              <a:buChar char="•"/>
            </a:pPr>
            <a:r>
              <a:rPr lang="en-US" sz="1200" b="1" dirty="0"/>
              <a:t>Discriminators 2–4</a:t>
            </a:r>
            <a:r>
              <a:rPr lang="en-US" sz="1200" dirty="0"/>
              <a:t>: Varied in kernel size, depth, dropout rates, and number of filters to capture different spatial and semantic patterns.</a:t>
            </a:r>
          </a:p>
          <a:p>
            <a:pPr>
              <a:buNone/>
            </a:pPr>
            <a:r>
              <a:rPr lang="en-US" sz="1200" b="1" dirty="0"/>
              <a:t>Key Variations:</a:t>
            </a:r>
            <a:endParaRPr lang="en-US" sz="1200" dirty="0"/>
          </a:p>
          <a:p>
            <a:pPr>
              <a:buFont typeface="Arial" panose="020B0604020202020204" pitchFamily="34" charset="0"/>
              <a:buChar char="•"/>
            </a:pPr>
            <a:r>
              <a:rPr lang="en-US" sz="1200" dirty="0"/>
              <a:t>Dropout: Ranges from </a:t>
            </a:r>
            <a:r>
              <a:rPr lang="en-US" sz="1200" b="1" dirty="0"/>
              <a:t>0.2 to 0.3</a:t>
            </a:r>
            <a:endParaRPr lang="en-US" sz="1200" dirty="0"/>
          </a:p>
          <a:p>
            <a:pPr>
              <a:buFont typeface="Arial" panose="020B0604020202020204" pitchFamily="34" charset="0"/>
              <a:buChar char="•"/>
            </a:pPr>
            <a:r>
              <a:rPr lang="en-US" sz="1200" dirty="0"/>
              <a:t>Kernel Sizes: From </a:t>
            </a:r>
            <a:r>
              <a:rPr lang="en-US" sz="1200" b="1" dirty="0"/>
              <a:t>3×3 to 6×6</a:t>
            </a:r>
            <a:endParaRPr lang="en-US" sz="1200" dirty="0"/>
          </a:p>
          <a:p>
            <a:pPr>
              <a:buFont typeface="Arial" panose="020B0604020202020204" pitchFamily="34" charset="0"/>
              <a:buChar char="•"/>
            </a:pPr>
            <a:r>
              <a:rPr lang="en-US" sz="1200" dirty="0"/>
              <a:t>Channels: Up to </a:t>
            </a:r>
            <a:r>
              <a:rPr lang="en-US" sz="1200" b="1" dirty="0"/>
              <a:t>1024 filters</a:t>
            </a:r>
            <a:r>
              <a:rPr lang="en-US" sz="1200" dirty="0"/>
              <a:t> in deeper layers for all datasets</a:t>
            </a:r>
          </a:p>
          <a:p>
            <a:pPr>
              <a:buFont typeface="Arial" panose="020B0604020202020204" pitchFamily="34" charset="0"/>
              <a:buChar char="•"/>
            </a:pPr>
            <a:r>
              <a:rPr lang="en-US" sz="1200" dirty="0"/>
              <a:t>Fully Connected Layers: Adjusted to match feature map sizes per dataset resolution</a:t>
            </a:r>
          </a:p>
          <a:p>
            <a:pPr>
              <a:buNone/>
            </a:pPr>
            <a:r>
              <a:rPr lang="en-US" sz="1200" b="1" dirty="0"/>
              <a:t>Training Strategy:</a:t>
            </a:r>
            <a:endParaRPr lang="en-US" sz="1200" dirty="0"/>
          </a:p>
          <a:p>
            <a:pPr>
              <a:buFont typeface="Arial" panose="020B0604020202020204" pitchFamily="34" charset="0"/>
              <a:buChar char="•"/>
            </a:pPr>
            <a:r>
              <a:rPr lang="en-US" sz="1200" dirty="0"/>
              <a:t>The generator is trained using </a:t>
            </a:r>
            <a:r>
              <a:rPr lang="en-US" sz="1200" b="1" dirty="0"/>
              <a:t>feedback aggregated from all 4 discriminators</a:t>
            </a:r>
            <a:r>
              <a:rPr lang="en-US" sz="1200" dirty="0"/>
              <a:t>.</a:t>
            </a:r>
          </a:p>
          <a:p>
            <a:pPr>
              <a:buFont typeface="Arial" panose="020B0604020202020204" pitchFamily="34" charset="0"/>
              <a:buChar char="•"/>
            </a:pPr>
            <a:r>
              <a:rPr lang="en-US" sz="1200" dirty="0"/>
              <a:t>Discriminator loss and generator loss are </a:t>
            </a:r>
            <a:r>
              <a:rPr lang="en-US" sz="1200" b="1" dirty="0"/>
              <a:t>averaged</a:t>
            </a:r>
            <a:r>
              <a:rPr lang="en-US" sz="1200" dirty="0"/>
              <a:t> across all the different images.</a:t>
            </a:r>
          </a:p>
          <a:p>
            <a:pPr>
              <a:buNone/>
            </a:pPr>
            <a:endParaRPr lang="en-US" sz="1200" dirty="0"/>
          </a:p>
        </p:txBody>
      </p:sp>
      <p:pic>
        <p:nvPicPr>
          <p:cNvPr id="4" name="Picture 3">
            <a:extLst>
              <a:ext uri="{FF2B5EF4-FFF2-40B4-BE49-F238E27FC236}">
                <a16:creationId xmlns:a16="http://schemas.microsoft.com/office/drawing/2014/main" id="{C9129C85-2221-5284-BBEB-FCB6D4A35CFF}"/>
              </a:ext>
            </a:extLst>
          </p:cNvPr>
          <p:cNvPicPr>
            <a:picLocks noChangeAspect="1"/>
          </p:cNvPicPr>
          <p:nvPr/>
        </p:nvPicPr>
        <p:blipFill>
          <a:blip r:embed="rId2"/>
          <a:stretch>
            <a:fillRect/>
          </a:stretch>
        </p:blipFill>
        <p:spPr>
          <a:xfrm>
            <a:off x="8754256" y="4896556"/>
            <a:ext cx="2435120" cy="1686546"/>
          </a:xfrm>
          <a:prstGeom prst="rect">
            <a:avLst/>
          </a:prstGeom>
        </p:spPr>
      </p:pic>
    </p:spTree>
    <p:extLst>
      <p:ext uri="{BB962C8B-B14F-4D97-AF65-F5344CB8AC3E}">
        <p14:creationId xmlns:p14="http://schemas.microsoft.com/office/powerpoint/2010/main" val="3718168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1D4E-8583-BD8E-4DD0-D925A82B263F}"/>
              </a:ext>
            </a:extLst>
          </p:cNvPr>
          <p:cNvSpPr>
            <a:spLocks noGrp="1"/>
          </p:cNvSpPr>
          <p:nvPr>
            <p:ph type="title"/>
          </p:nvPr>
        </p:nvSpPr>
        <p:spPr>
          <a:xfrm>
            <a:off x="1863660" y="568905"/>
            <a:ext cx="7958331" cy="1077229"/>
          </a:xfrm>
        </p:spPr>
        <p:txBody>
          <a:bodyPr/>
          <a:lstStyle/>
          <a:p>
            <a:pPr algn="l"/>
            <a:r>
              <a:rPr lang="en-US" dirty="0"/>
              <a:t>Experiments</a:t>
            </a:r>
          </a:p>
        </p:txBody>
      </p:sp>
      <p:sp>
        <p:nvSpPr>
          <p:cNvPr id="4" name="Rectangle 1">
            <a:extLst>
              <a:ext uri="{FF2B5EF4-FFF2-40B4-BE49-F238E27FC236}">
                <a16:creationId xmlns:a16="http://schemas.microsoft.com/office/drawing/2014/main" id="{4D24E268-59AE-433B-3F05-6A7601B9DF43}"/>
              </a:ext>
            </a:extLst>
          </p:cNvPr>
          <p:cNvSpPr>
            <a:spLocks noGrp="1" noChangeArrowheads="1"/>
          </p:cNvSpPr>
          <p:nvPr>
            <p:ph idx="1"/>
          </p:nvPr>
        </p:nvSpPr>
        <p:spPr bwMode="auto">
          <a:xfrm>
            <a:off x="1629292" y="1107519"/>
            <a:ext cx="8192699"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Objective</a:t>
            </a:r>
            <a:r>
              <a:rPr kumimoji="0" lang="en-US" altLang="en-US" sz="1800" b="0" i="0" u="sng" strike="noStrike" cap="none" normalizeH="0" baseline="0" dirty="0">
                <a:ln>
                  <a:noFill/>
                </a:ln>
                <a:solidFill>
                  <a:schemeClr val="tx1"/>
                </a:solidFill>
                <a:effectLst/>
                <a:latin typeface="Arial" panose="020B0604020202020204" pitchFamily="34" charset="0"/>
              </a:rPr>
              <a:t>:</a:t>
            </a:r>
            <a:r>
              <a:rPr kumimoji="0" lang="en-US" altLang="en-US" sz="1800" b="0" i="0"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Test whether architectural diversity across discriminators improves GAN training without altering the original </a:t>
            </a:r>
            <a:r>
              <a:rPr kumimoji="0" lang="en-US" altLang="en-US" sz="1800" b="1" i="0" u="none" strike="noStrike" cap="none" normalizeH="0" baseline="0" dirty="0">
                <a:ln>
                  <a:noFill/>
                </a:ln>
                <a:solidFill>
                  <a:schemeClr val="tx1"/>
                </a:solidFill>
                <a:effectLst/>
                <a:latin typeface="Arial" panose="020B0604020202020204" pitchFamily="34" charset="0"/>
              </a:rPr>
              <a:t>adversarial loss function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Loss</a:t>
            </a:r>
            <a:r>
              <a:rPr kumimoji="0" lang="en-US" altLang="en-US" sz="1800" b="0" i="0" u="none" strike="noStrike" cap="none" normalizeH="0" baseline="0" dirty="0">
                <a:ln>
                  <a:noFill/>
                </a:ln>
                <a:solidFill>
                  <a:schemeClr val="tx1"/>
                </a:solidFill>
                <a:effectLst/>
                <a:latin typeface="Arial" panose="020B0604020202020204" pitchFamily="34" charset="0"/>
              </a:rPr>
              <a:t>: Binary Cross-Entropy (unchanged from baseline GMAN setup).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Datasets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MNIST</a:t>
            </a:r>
            <a:r>
              <a:rPr kumimoji="0" lang="en-US" altLang="en-US" sz="1800" b="0" i="0" u="none" strike="noStrike" cap="none" normalizeH="0" baseline="0" dirty="0">
                <a:ln>
                  <a:noFill/>
                </a:ln>
                <a:solidFill>
                  <a:schemeClr val="tx1"/>
                </a:solidFill>
                <a:effectLst/>
                <a:latin typeface="Arial" panose="020B0604020202020204" pitchFamily="34" charset="0"/>
              </a:rPr>
              <a:t> (grayscale → RGB, 32×32)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CIFAR-10</a:t>
            </a:r>
            <a:r>
              <a:rPr kumimoji="0" lang="en-US" altLang="en-US" sz="1800" b="0" i="0" u="none" strike="noStrike" cap="none" normalizeH="0" baseline="0" dirty="0">
                <a:ln>
                  <a:noFill/>
                </a:ln>
                <a:solidFill>
                  <a:schemeClr val="tx1"/>
                </a:solidFill>
                <a:effectLst/>
                <a:latin typeface="Arial" panose="020B0604020202020204" pitchFamily="34" charset="0"/>
              </a:rPr>
              <a:t> (RGB, 32×32)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CelebA</a:t>
            </a:r>
            <a:r>
              <a:rPr kumimoji="0" lang="en-US" altLang="en-US" sz="1800" b="0" i="0" u="none" strike="noStrike" cap="none" normalizeH="0" baseline="0" dirty="0">
                <a:ln>
                  <a:noFill/>
                </a:ln>
                <a:solidFill>
                  <a:schemeClr val="tx1"/>
                </a:solidFill>
                <a:effectLst/>
                <a:latin typeface="Arial" panose="020B0604020202020204" pitchFamily="34" charset="0"/>
              </a:rPr>
              <a:t> (RGB, 64×64)</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Models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1 shared </a:t>
            </a:r>
            <a:r>
              <a:rPr kumimoji="0" lang="en-US" altLang="en-US" sz="1800" b="1" i="0" u="none" strike="noStrike" cap="none" normalizeH="0" baseline="0" dirty="0">
                <a:ln>
                  <a:noFill/>
                </a:ln>
                <a:solidFill>
                  <a:schemeClr val="tx1"/>
                </a:solidFill>
                <a:effectLst/>
                <a:latin typeface="Arial" panose="020B0604020202020204" pitchFamily="34" charset="0"/>
              </a:rPr>
              <a:t>generator</a:t>
            </a:r>
            <a:r>
              <a:rPr kumimoji="0" lang="en-US" altLang="en-US" sz="1800" b="0" i="0" u="none" strike="noStrike" cap="none" normalizeH="0" baseline="0" dirty="0">
                <a:ln>
                  <a:noFill/>
                </a:ln>
                <a:solidFill>
                  <a:schemeClr val="tx1"/>
                </a:solidFill>
                <a:effectLst/>
                <a:latin typeface="Arial" panose="020B0604020202020204" pitchFamily="34" charset="0"/>
              </a:rPr>
              <a:t> per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4 </a:t>
            </a:r>
            <a:r>
              <a:rPr kumimoji="0" lang="en-US" altLang="en-US" sz="1800" b="1" i="0" u="none" strike="noStrike" cap="none" normalizeH="0" baseline="0" dirty="0">
                <a:ln>
                  <a:noFill/>
                </a:ln>
                <a:solidFill>
                  <a:schemeClr val="tx1"/>
                </a:solidFill>
                <a:effectLst/>
                <a:latin typeface="Arial" panose="020B0604020202020204" pitchFamily="34" charset="0"/>
              </a:rPr>
              <a:t>discriminators</a:t>
            </a:r>
            <a:r>
              <a:rPr kumimoji="0" lang="en-US" altLang="en-US" sz="1800" b="0" i="0" u="none" strike="noStrike" cap="none" normalizeH="0" baseline="0" dirty="0">
                <a:ln>
                  <a:noFill/>
                </a:ln>
                <a:solidFill>
                  <a:schemeClr val="tx1"/>
                </a:solidFill>
                <a:effectLst/>
                <a:latin typeface="Arial" panose="020B0604020202020204" pitchFamily="34" charset="0"/>
              </a:rPr>
              <a:t> with different architectures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Training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10 epochs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Batch size</a:t>
            </a:r>
            <a:r>
              <a:rPr kumimoji="0" lang="en-US" altLang="en-US" sz="1800" b="0" i="0" u="none" strike="noStrike" cap="none" normalizeH="0" baseline="0" dirty="0">
                <a:ln>
                  <a:noFill/>
                </a:ln>
                <a:solidFill>
                  <a:schemeClr val="tx1"/>
                </a:solidFill>
                <a:effectLst/>
                <a:latin typeface="Arial" panose="020B0604020202020204" pitchFamily="34" charset="0"/>
              </a:rPr>
              <a:t>: 32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Latent dimension</a:t>
            </a:r>
            <a:r>
              <a:rPr kumimoji="0" lang="en-US" altLang="en-US" sz="1800" b="0" i="0" u="none" strike="noStrike" cap="none" normalizeH="0" baseline="0" dirty="0">
                <a:ln>
                  <a:noFill/>
                </a:ln>
                <a:solidFill>
                  <a:schemeClr val="tx1"/>
                </a:solidFill>
                <a:effectLst/>
                <a:latin typeface="Arial" panose="020B0604020202020204" pitchFamily="34" charset="0"/>
              </a:rPr>
              <a:t>: 100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4 discriminators trained in parallel</a:t>
            </a:r>
            <a:r>
              <a:rPr kumimoji="0" lang="en-US" altLang="en-US" sz="1800" b="0" i="0" u="none" strike="noStrike" cap="none" normalizeH="0" baseline="0" dirty="0">
                <a:ln>
                  <a:noFill/>
                </a:ln>
                <a:solidFill>
                  <a:schemeClr val="tx1"/>
                </a:solidFill>
                <a:effectLst/>
                <a:latin typeface="Arial" panose="020B0604020202020204" pitchFamily="34" charset="0"/>
              </a:rPr>
              <a:t>, generator uses averaged feedback.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Same learning rate, optimizer (Adam), and betas</a:t>
            </a:r>
            <a:r>
              <a:rPr kumimoji="0" lang="en-US" altLang="en-US" sz="1800" b="0" i="0" u="none" strike="noStrike" cap="none" normalizeH="0" baseline="0" dirty="0">
                <a:ln>
                  <a:noFill/>
                </a:ln>
                <a:solidFill>
                  <a:schemeClr val="tx1"/>
                </a:solidFill>
                <a:effectLst/>
                <a:latin typeface="Arial" panose="020B0604020202020204" pitchFamily="34" charset="0"/>
              </a:rPr>
              <a:t> across all components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9352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E4414-1CC8-1770-5CEA-B588351951C5}"/>
              </a:ext>
            </a:extLst>
          </p:cNvPr>
          <p:cNvSpPr>
            <a:spLocks noGrp="1"/>
          </p:cNvSpPr>
          <p:nvPr>
            <p:ph type="title"/>
          </p:nvPr>
        </p:nvSpPr>
        <p:spPr>
          <a:xfrm>
            <a:off x="1190972" y="90604"/>
            <a:ext cx="7080832" cy="486171"/>
          </a:xfrm>
        </p:spPr>
        <p:txBody>
          <a:bodyPr>
            <a:normAutofit fontScale="90000"/>
          </a:bodyPr>
          <a:lstStyle/>
          <a:p>
            <a:pPr algn="l"/>
            <a:r>
              <a:rPr lang="en-US" dirty="0"/>
              <a:t>Results - MNIST</a:t>
            </a:r>
          </a:p>
        </p:txBody>
      </p:sp>
      <p:graphicFrame>
        <p:nvGraphicFramePr>
          <p:cNvPr id="4" name="Content Placeholder 3">
            <a:extLst>
              <a:ext uri="{FF2B5EF4-FFF2-40B4-BE49-F238E27FC236}">
                <a16:creationId xmlns:a16="http://schemas.microsoft.com/office/drawing/2014/main" id="{2CC069B5-EB08-6DA8-9444-5BDA0923D2D1}"/>
              </a:ext>
            </a:extLst>
          </p:cNvPr>
          <p:cNvGraphicFramePr>
            <a:graphicFrameLocks noGrp="1"/>
          </p:cNvGraphicFramePr>
          <p:nvPr>
            <p:ph idx="1"/>
            <p:extLst>
              <p:ext uri="{D42A27DB-BD31-4B8C-83A1-F6EECF244321}">
                <p14:modId xmlns:p14="http://schemas.microsoft.com/office/powerpoint/2010/main" val="3907601806"/>
              </p:ext>
            </p:extLst>
          </p:nvPr>
        </p:nvGraphicFramePr>
        <p:xfrm>
          <a:off x="0" y="713934"/>
          <a:ext cx="12192000" cy="3657601"/>
        </p:xfrm>
        <a:graphic>
          <a:graphicData uri="http://schemas.openxmlformats.org/drawingml/2006/table">
            <a:tbl>
              <a:tblPr firstRow="1" bandRow="1">
                <a:tableStyleId>{073A0DAA-6AF3-43AB-8588-CEC1D06C72B9}</a:tableStyleId>
              </a:tblPr>
              <a:tblGrid>
                <a:gridCol w="942535">
                  <a:extLst>
                    <a:ext uri="{9D8B030D-6E8A-4147-A177-3AD203B41FA5}">
                      <a16:colId xmlns:a16="http://schemas.microsoft.com/office/drawing/2014/main" val="1321985560"/>
                    </a:ext>
                  </a:extLst>
                </a:gridCol>
                <a:gridCol w="3179299">
                  <a:extLst>
                    <a:ext uri="{9D8B030D-6E8A-4147-A177-3AD203B41FA5}">
                      <a16:colId xmlns:a16="http://schemas.microsoft.com/office/drawing/2014/main" val="1813107662"/>
                    </a:ext>
                  </a:extLst>
                </a:gridCol>
                <a:gridCol w="3038621">
                  <a:extLst>
                    <a:ext uri="{9D8B030D-6E8A-4147-A177-3AD203B41FA5}">
                      <a16:colId xmlns:a16="http://schemas.microsoft.com/office/drawing/2014/main" val="3671614718"/>
                    </a:ext>
                  </a:extLst>
                </a:gridCol>
                <a:gridCol w="2658794">
                  <a:extLst>
                    <a:ext uri="{9D8B030D-6E8A-4147-A177-3AD203B41FA5}">
                      <a16:colId xmlns:a16="http://schemas.microsoft.com/office/drawing/2014/main" val="595895752"/>
                    </a:ext>
                  </a:extLst>
                </a:gridCol>
                <a:gridCol w="2372751">
                  <a:extLst>
                    <a:ext uri="{9D8B030D-6E8A-4147-A177-3AD203B41FA5}">
                      <a16:colId xmlns:a16="http://schemas.microsoft.com/office/drawing/2014/main" val="706972703"/>
                    </a:ext>
                  </a:extLst>
                </a:gridCol>
              </a:tblGrid>
              <a:tr h="453684">
                <a:tc>
                  <a:txBody>
                    <a:bodyPr/>
                    <a:lstStyle/>
                    <a:p>
                      <a:endParaRPr lang="en-US" dirty="0"/>
                    </a:p>
                  </a:txBody>
                  <a:tcPr/>
                </a:tc>
                <a:tc>
                  <a:txBody>
                    <a:bodyPr/>
                    <a:lstStyle/>
                    <a:p>
                      <a:r>
                        <a:rPr lang="en-US" dirty="0"/>
                        <a:t>Discriminator = 1</a:t>
                      </a:r>
                    </a:p>
                  </a:txBody>
                  <a:tcPr/>
                </a:tc>
                <a:tc>
                  <a:txBody>
                    <a:bodyPr/>
                    <a:lstStyle/>
                    <a:p>
                      <a:r>
                        <a:rPr lang="en-US" dirty="0"/>
                        <a:t>Discriminator = 2</a:t>
                      </a:r>
                    </a:p>
                  </a:txBody>
                  <a:tcPr/>
                </a:tc>
                <a:tc>
                  <a:txBody>
                    <a:bodyPr/>
                    <a:lstStyle/>
                    <a:p>
                      <a:r>
                        <a:rPr lang="en-US" dirty="0"/>
                        <a:t>Discriminator = 3</a:t>
                      </a:r>
                    </a:p>
                  </a:txBody>
                  <a:tcPr/>
                </a:tc>
                <a:tc>
                  <a:txBody>
                    <a:bodyPr/>
                    <a:lstStyle/>
                    <a:p>
                      <a:r>
                        <a:rPr lang="en-US" dirty="0"/>
                        <a:t>Discriminator = 4</a:t>
                      </a:r>
                    </a:p>
                  </a:txBody>
                  <a:tcPr/>
                </a:tc>
                <a:extLst>
                  <a:ext uri="{0D108BD9-81ED-4DB2-BD59-A6C34878D82A}">
                    <a16:rowId xmlns:a16="http://schemas.microsoft.com/office/drawing/2014/main" val="740284456"/>
                  </a:ext>
                </a:extLst>
              </a:tr>
              <a:tr h="1385668">
                <a:tc>
                  <a:txBody>
                    <a:bodyPr/>
                    <a:lstStyle/>
                    <a:p>
                      <a:r>
                        <a:rPr lang="en-US" dirty="0"/>
                        <a:t>Loss</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050566742"/>
                  </a:ext>
                </a:extLst>
              </a:tr>
              <a:tr h="1818249">
                <a:tc>
                  <a:txBody>
                    <a:bodyPr/>
                    <a:lstStyle/>
                    <a:p>
                      <a:r>
                        <a:rPr lang="en-US" dirty="0"/>
                        <a:t>Output</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617651370"/>
                  </a:ext>
                </a:extLst>
              </a:tr>
            </a:tbl>
          </a:graphicData>
        </a:graphic>
      </p:graphicFrame>
      <p:pic>
        <p:nvPicPr>
          <p:cNvPr id="5" name="Content Placeholder 4">
            <a:extLst>
              <a:ext uri="{FF2B5EF4-FFF2-40B4-BE49-F238E27FC236}">
                <a16:creationId xmlns:a16="http://schemas.microsoft.com/office/drawing/2014/main" id="{57E08C9B-A93D-2161-7BB2-BC15E51D1A03}"/>
              </a:ext>
            </a:extLst>
          </p:cNvPr>
          <p:cNvPicPr>
            <a:picLocks noChangeAspect="1"/>
          </p:cNvPicPr>
          <p:nvPr/>
        </p:nvPicPr>
        <p:blipFill>
          <a:blip r:embed="rId2"/>
          <a:stretch>
            <a:fillRect/>
          </a:stretch>
        </p:blipFill>
        <p:spPr>
          <a:xfrm>
            <a:off x="1013659" y="1249614"/>
            <a:ext cx="2823763" cy="1411882"/>
          </a:xfrm>
          <a:prstGeom prst="rect">
            <a:avLst/>
          </a:prstGeom>
        </p:spPr>
      </p:pic>
      <p:pic>
        <p:nvPicPr>
          <p:cNvPr id="6" name="Picture 5">
            <a:extLst>
              <a:ext uri="{FF2B5EF4-FFF2-40B4-BE49-F238E27FC236}">
                <a16:creationId xmlns:a16="http://schemas.microsoft.com/office/drawing/2014/main" id="{A13F701E-6D22-40BA-9380-9EC511CB0945}"/>
              </a:ext>
            </a:extLst>
          </p:cNvPr>
          <p:cNvPicPr>
            <a:picLocks noChangeAspect="1"/>
          </p:cNvPicPr>
          <p:nvPr/>
        </p:nvPicPr>
        <p:blipFill>
          <a:blip r:embed="rId3"/>
          <a:stretch>
            <a:fillRect/>
          </a:stretch>
        </p:blipFill>
        <p:spPr>
          <a:xfrm>
            <a:off x="4262160" y="1273414"/>
            <a:ext cx="2743750" cy="1371876"/>
          </a:xfrm>
          <a:prstGeom prst="rect">
            <a:avLst/>
          </a:prstGeom>
        </p:spPr>
      </p:pic>
      <p:pic>
        <p:nvPicPr>
          <p:cNvPr id="7" name="Picture 6">
            <a:extLst>
              <a:ext uri="{FF2B5EF4-FFF2-40B4-BE49-F238E27FC236}">
                <a16:creationId xmlns:a16="http://schemas.microsoft.com/office/drawing/2014/main" id="{929F1D79-705D-9C14-DEDB-B76F6B7E6080}"/>
              </a:ext>
            </a:extLst>
          </p:cNvPr>
          <p:cNvPicPr>
            <a:picLocks noChangeAspect="1"/>
          </p:cNvPicPr>
          <p:nvPr/>
        </p:nvPicPr>
        <p:blipFill>
          <a:blip r:embed="rId4"/>
          <a:stretch>
            <a:fillRect/>
          </a:stretch>
        </p:blipFill>
        <p:spPr>
          <a:xfrm>
            <a:off x="7239680" y="1246555"/>
            <a:ext cx="2643164" cy="1321582"/>
          </a:xfrm>
          <a:prstGeom prst="rect">
            <a:avLst/>
          </a:prstGeom>
        </p:spPr>
      </p:pic>
      <p:pic>
        <p:nvPicPr>
          <p:cNvPr id="8" name="Picture 7">
            <a:extLst>
              <a:ext uri="{FF2B5EF4-FFF2-40B4-BE49-F238E27FC236}">
                <a16:creationId xmlns:a16="http://schemas.microsoft.com/office/drawing/2014/main" id="{82AE2B0F-DFF3-FF74-6D92-01EC92C8E640}"/>
              </a:ext>
            </a:extLst>
          </p:cNvPr>
          <p:cNvPicPr>
            <a:picLocks noChangeAspect="1"/>
          </p:cNvPicPr>
          <p:nvPr/>
        </p:nvPicPr>
        <p:blipFill>
          <a:blip r:embed="rId5"/>
          <a:stretch>
            <a:fillRect/>
          </a:stretch>
        </p:blipFill>
        <p:spPr>
          <a:xfrm>
            <a:off x="9799747" y="1246555"/>
            <a:ext cx="2572735" cy="1286367"/>
          </a:xfrm>
          <a:prstGeom prst="rect">
            <a:avLst/>
          </a:prstGeom>
        </p:spPr>
      </p:pic>
      <p:pic>
        <p:nvPicPr>
          <p:cNvPr id="10" name="Picture 9">
            <a:extLst>
              <a:ext uri="{FF2B5EF4-FFF2-40B4-BE49-F238E27FC236}">
                <a16:creationId xmlns:a16="http://schemas.microsoft.com/office/drawing/2014/main" id="{82257B3C-CCF1-B5A8-8846-817C1AAAF18C}"/>
              </a:ext>
            </a:extLst>
          </p:cNvPr>
          <p:cNvPicPr>
            <a:picLocks noChangeAspect="1"/>
          </p:cNvPicPr>
          <p:nvPr/>
        </p:nvPicPr>
        <p:blipFill>
          <a:blip r:embed="rId6"/>
          <a:stretch>
            <a:fillRect/>
          </a:stretch>
        </p:blipFill>
        <p:spPr>
          <a:xfrm>
            <a:off x="9995554" y="2618447"/>
            <a:ext cx="1894274" cy="1889155"/>
          </a:xfrm>
          <a:prstGeom prst="rect">
            <a:avLst/>
          </a:prstGeom>
        </p:spPr>
      </p:pic>
      <p:pic>
        <p:nvPicPr>
          <p:cNvPr id="12" name="Picture 11">
            <a:extLst>
              <a:ext uri="{FF2B5EF4-FFF2-40B4-BE49-F238E27FC236}">
                <a16:creationId xmlns:a16="http://schemas.microsoft.com/office/drawing/2014/main" id="{40EF00E7-D8E7-8984-9200-4E80CA137D2A}"/>
              </a:ext>
            </a:extLst>
          </p:cNvPr>
          <p:cNvPicPr>
            <a:picLocks noChangeAspect="1"/>
          </p:cNvPicPr>
          <p:nvPr/>
        </p:nvPicPr>
        <p:blipFill>
          <a:blip r:embed="rId7"/>
          <a:stretch>
            <a:fillRect/>
          </a:stretch>
        </p:blipFill>
        <p:spPr>
          <a:xfrm>
            <a:off x="4686898" y="2646558"/>
            <a:ext cx="1894274" cy="1884145"/>
          </a:xfrm>
          <a:prstGeom prst="rect">
            <a:avLst/>
          </a:prstGeom>
        </p:spPr>
      </p:pic>
      <p:pic>
        <p:nvPicPr>
          <p:cNvPr id="14" name="Picture 13">
            <a:extLst>
              <a:ext uri="{FF2B5EF4-FFF2-40B4-BE49-F238E27FC236}">
                <a16:creationId xmlns:a16="http://schemas.microsoft.com/office/drawing/2014/main" id="{E8F7A022-F543-1B37-C109-CE44D4378425}"/>
              </a:ext>
            </a:extLst>
          </p:cNvPr>
          <p:cNvPicPr>
            <a:picLocks noChangeAspect="1"/>
          </p:cNvPicPr>
          <p:nvPr/>
        </p:nvPicPr>
        <p:blipFill>
          <a:blip r:embed="rId8"/>
          <a:stretch>
            <a:fillRect/>
          </a:stretch>
        </p:blipFill>
        <p:spPr>
          <a:xfrm>
            <a:off x="1502695" y="2749396"/>
            <a:ext cx="1894274" cy="1894274"/>
          </a:xfrm>
          <a:prstGeom prst="rect">
            <a:avLst/>
          </a:prstGeom>
        </p:spPr>
      </p:pic>
      <p:pic>
        <p:nvPicPr>
          <p:cNvPr id="16" name="Picture 15">
            <a:extLst>
              <a:ext uri="{FF2B5EF4-FFF2-40B4-BE49-F238E27FC236}">
                <a16:creationId xmlns:a16="http://schemas.microsoft.com/office/drawing/2014/main" id="{6159E59C-1E06-8CB5-5CD5-7E650EA017A1}"/>
              </a:ext>
            </a:extLst>
          </p:cNvPr>
          <p:cNvPicPr>
            <a:picLocks noChangeAspect="1"/>
          </p:cNvPicPr>
          <p:nvPr/>
        </p:nvPicPr>
        <p:blipFill>
          <a:blip r:embed="rId9"/>
          <a:stretch>
            <a:fillRect/>
          </a:stretch>
        </p:blipFill>
        <p:spPr>
          <a:xfrm>
            <a:off x="7614125" y="2631408"/>
            <a:ext cx="1894274" cy="1940476"/>
          </a:xfrm>
          <a:prstGeom prst="rect">
            <a:avLst/>
          </a:prstGeom>
        </p:spPr>
      </p:pic>
      <p:pic>
        <p:nvPicPr>
          <p:cNvPr id="18" name="Picture 17">
            <a:extLst>
              <a:ext uri="{FF2B5EF4-FFF2-40B4-BE49-F238E27FC236}">
                <a16:creationId xmlns:a16="http://schemas.microsoft.com/office/drawing/2014/main" id="{2356CB02-E0C3-9C22-95ED-552DE38C2656}"/>
              </a:ext>
            </a:extLst>
          </p:cNvPr>
          <p:cNvPicPr>
            <a:picLocks noChangeAspect="1"/>
          </p:cNvPicPr>
          <p:nvPr/>
        </p:nvPicPr>
        <p:blipFill>
          <a:blip r:embed="rId10"/>
          <a:stretch>
            <a:fillRect/>
          </a:stretch>
        </p:blipFill>
        <p:spPr>
          <a:xfrm>
            <a:off x="3678942" y="4571884"/>
            <a:ext cx="4157437" cy="2324513"/>
          </a:xfrm>
          <a:prstGeom prst="rect">
            <a:avLst/>
          </a:prstGeom>
        </p:spPr>
      </p:pic>
    </p:spTree>
    <p:extLst>
      <p:ext uri="{BB962C8B-B14F-4D97-AF65-F5344CB8AC3E}">
        <p14:creationId xmlns:p14="http://schemas.microsoft.com/office/powerpoint/2010/main" val="500734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9B820-795E-8146-52B2-F7FD6B9E070B}"/>
              </a:ext>
            </a:extLst>
          </p:cNvPr>
          <p:cNvSpPr>
            <a:spLocks noGrp="1"/>
          </p:cNvSpPr>
          <p:nvPr>
            <p:ph type="title"/>
          </p:nvPr>
        </p:nvSpPr>
        <p:spPr>
          <a:xfrm>
            <a:off x="1036226" y="6198"/>
            <a:ext cx="7958331" cy="1077229"/>
          </a:xfrm>
        </p:spPr>
        <p:txBody>
          <a:bodyPr/>
          <a:lstStyle/>
          <a:p>
            <a:pPr algn="l"/>
            <a:r>
              <a:rPr lang="en-US" dirty="0"/>
              <a:t>Results - CIFAR</a:t>
            </a:r>
          </a:p>
        </p:txBody>
      </p:sp>
      <p:graphicFrame>
        <p:nvGraphicFramePr>
          <p:cNvPr id="7" name="Content Placeholder 6">
            <a:extLst>
              <a:ext uri="{FF2B5EF4-FFF2-40B4-BE49-F238E27FC236}">
                <a16:creationId xmlns:a16="http://schemas.microsoft.com/office/drawing/2014/main" id="{268E1097-8F8F-02B5-50FB-9E1D71A76676}"/>
              </a:ext>
            </a:extLst>
          </p:cNvPr>
          <p:cNvGraphicFramePr>
            <a:graphicFrameLocks noGrp="1"/>
          </p:cNvGraphicFramePr>
          <p:nvPr>
            <p:ph idx="1"/>
            <p:extLst>
              <p:ext uri="{D42A27DB-BD31-4B8C-83A1-F6EECF244321}">
                <p14:modId xmlns:p14="http://schemas.microsoft.com/office/powerpoint/2010/main" val="3869270973"/>
              </p:ext>
            </p:extLst>
          </p:nvPr>
        </p:nvGraphicFramePr>
        <p:xfrm>
          <a:off x="0" y="534572"/>
          <a:ext cx="12192000" cy="3526302"/>
        </p:xfrm>
        <a:graphic>
          <a:graphicData uri="http://schemas.openxmlformats.org/drawingml/2006/table">
            <a:tbl>
              <a:tblPr firstRow="1" bandRow="1">
                <a:tableStyleId>{073A0DAA-6AF3-43AB-8588-CEC1D06C72B9}</a:tableStyleId>
              </a:tblPr>
              <a:tblGrid>
                <a:gridCol w="928468">
                  <a:extLst>
                    <a:ext uri="{9D8B030D-6E8A-4147-A177-3AD203B41FA5}">
                      <a16:colId xmlns:a16="http://schemas.microsoft.com/office/drawing/2014/main" val="1644354240"/>
                    </a:ext>
                  </a:extLst>
                </a:gridCol>
                <a:gridCol w="2926080">
                  <a:extLst>
                    <a:ext uri="{9D8B030D-6E8A-4147-A177-3AD203B41FA5}">
                      <a16:colId xmlns:a16="http://schemas.microsoft.com/office/drawing/2014/main" val="834473888"/>
                    </a:ext>
                  </a:extLst>
                </a:gridCol>
                <a:gridCol w="2912012">
                  <a:extLst>
                    <a:ext uri="{9D8B030D-6E8A-4147-A177-3AD203B41FA5}">
                      <a16:colId xmlns:a16="http://schemas.microsoft.com/office/drawing/2014/main" val="3116496093"/>
                    </a:ext>
                  </a:extLst>
                </a:gridCol>
                <a:gridCol w="2813538">
                  <a:extLst>
                    <a:ext uri="{9D8B030D-6E8A-4147-A177-3AD203B41FA5}">
                      <a16:colId xmlns:a16="http://schemas.microsoft.com/office/drawing/2014/main" val="798436568"/>
                    </a:ext>
                  </a:extLst>
                </a:gridCol>
                <a:gridCol w="2611902">
                  <a:extLst>
                    <a:ext uri="{9D8B030D-6E8A-4147-A177-3AD203B41FA5}">
                      <a16:colId xmlns:a16="http://schemas.microsoft.com/office/drawing/2014/main" val="369931154"/>
                    </a:ext>
                  </a:extLst>
                </a:gridCol>
              </a:tblGrid>
              <a:tr h="562708">
                <a:tc>
                  <a:txBody>
                    <a:bodyPr/>
                    <a:lstStyle/>
                    <a:p>
                      <a:endParaRPr lang="en-US" dirty="0"/>
                    </a:p>
                  </a:txBody>
                  <a:tcPr/>
                </a:tc>
                <a:tc>
                  <a:txBody>
                    <a:bodyPr/>
                    <a:lstStyle/>
                    <a:p>
                      <a:r>
                        <a:rPr lang="en-US" dirty="0"/>
                        <a:t>Discriminator = 1</a:t>
                      </a:r>
                    </a:p>
                  </a:txBody>
                  <a:tcPr/>
                </a:tc>
                <a:tc>
                  <a:txBody>
                    <a:bodyPr/>
                    <a:lstStyle/>
                    <a:p>
                      <a:r>
                        <a:rPr lang="en-US" dirty="0"/>
                        <a:t>Discriminator = 2</a:t>
                      </a:r>
                    </a:p>
                  </a:txBody>
                  <a:tcPr/>
                </a:tc>
                <a:tc>
                  <a:txBody>
                    <a:bodyPr/>
                    <a:lstStyle/>
                    <a:p>
                      <a:r>
                        <a:rPr lang="en-US" dirty="0"/>
                        <a:t>Discriminator = 3</a:t>
                      </a:r>
                    </a:p>
                  </a:txBody>
                  <a:tcPr/>
                </a:tc>
                <a:tc>
                  <a:txBody>
                    <a:bodyPr/>
                    <a:lstStyle/>
                    <a:p>
                      <a:r>
                        <a:rPr lang="en-US" dirty="0"/>
                        <a:t>Discriminator = 4</a:t>
                      </a:r>
                    </a:p>
                  </a:txBody>
                  <a:tcPr/>
                </a:tc>
                <a:extLst>
                  <a:ext uri="{0D108BD9-81ED-4DB2-BD59-A6C34878D82A}">
                    <a16:rowId xmlns:a16="http://schemas.microsoft.com/office/drawing/2014/main" val="1795926498"/>
                  </a:ext>
                </a:extLst>
              </a:tr>
              <a:tr h="1481797">
                <a:tc>
                  <a:txBody>
                    <a:bodyPr/>
                    <a:lstStyle/>
                    <a:p>
                      <a:r>
                        <a:rPr lang="en-US" dirty="0"/>
                        <a:t>Loss</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263161417"/>
                  </a:ext>
                </a:extLst>
              </a:tr>
              <a:tr h="1481797">
                <a:tc>
                  <a:txBody>
                    <a:bodyPr/>
                    <a:lstStyle/>
                    <a:p>
                      <a:r>
                        <a:rPr lang="en-US" dirty="0"/>
                        <a:t>Output</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908854475"/>
                  </a:ext>
                </a:extLst>
              </a:tr>
            </a:tbl>
          </a:graphicData>
        </a:graphic>
      </p:graphicFrame>
      <p:pic>
        <p:nvPicPr>
          <p:cNvPr id="9" name="Picture 8">
            <a:extLst>
              <a:ext uri="{FF2B5EF4-FFF2-40B4-BE49-F238E27FC236}">
                <a16:creationId xmlns:a16="http://schemas.microsoft.com/office/drawing/2014/main" id="{AB7C4BDC-358E-40B5-E929-B3C683A27151}"/>
              </a:ext>
            </a:extLst>
          </p:cNvPr>
          <p:cNvPicPr>
            <a:picLocks noChangeAspect="1"/>
          </p:cNvPicPr>
          <p:nvPr/>
        </p:nvPicPr>
        <p:blipFill>
          <a:blip r:embed="rId2"/>
          <a:stretch>
            <a:fillRect/>
          </a:stretch>
        </p:blipFill>
        <p:spPr>
          <a:xfrm>
            <a:off x="1491758" y="2650917"/>
            <a:ext cx="1677817" cy="1696054"/>
          </a:xfrm>
          <a:prstGeom prst="rect">
            <a:avLst/>
          </a:prstGeom>
        </p:spPr>
      </p:pic>
      <p:pic>
        <p:nvPicPr>
          <p:cNvPr id="11" name="Picture 10">
            <a:extLst>
              <a:ext uri="{FF2B5EF4-FFF2-40B4-BE49-F238E27FC236}">
                <a16:creationId xmlns:a16="http://schemas.microsoft.com/office/drawing/2014/main" id="{E6EACC43-C7CE-2618-3D40-6781E054DCBE}"/>
              </a:ext>
            </a:extLst>
          </p:cNvPr>
          <p:cNvPicPr>
            <a:picLocks noChangeAspect="1"/>
          </p:cNvPicPr>
          <p:nvPr/>
        </p:nvPicPr>
        <p:blipFill>
          <a:blip r:embed="rId3"/>
          <a:stretch>
            <a:fillRect/>
          </a:stretch>
        </p:blipFill>
        <p:spPr>
          <a:xfrm>
            <a:off x="4537981" y="2600348"/>
            <a:ext cx="1723483" cy="1696054"/>
          </a:xfrm>
          <a:prstGeom prst="rect">
            <a:avLst/>
          </a:prstGeom>
        </p:spPr>
      </p:pic>
      <p:pic>
        <p:nvPicPr>
          <p:cNvPr id="13" name="Picture 12">
            <a:extLst>
              <a:ext uri="{FF2B5EF4-FFF2-40B4-BE49-F238E27FC236}">
                <a16:creationId xmlns:a16="http://schemas.microsoft.com/office/drawing/2014/main" id="{39964B8A-A0AE-E538-6C71-D65049FC0734}"/>
              </a:ext>
            </a:extLst>
          </p:cNvPr>
          <p:cNvPicPr>
            <a:picLocks noChangeAspect="1"/>
          </p:cNvPicPr>
          <p:nvPr/>
        </p:nvPicPr>
        <p:blipFill>
          <a:blip r:embed="rId4"/>
          <a:stretch>
            <a:fillRect/>
          </a:stretch>
        </p:blipFill>
        <p:spPr>
          <a:xfrm>
            <a:off x="1239490" y="1270170"/>
            <a:ext cx="2567560" cy="1301980"/>
          </a:xfrm>
          <a:prstGeom prst="rect">
            <a:avLst/>
          </a:prstGeom>
        </p:spPr>
      </p:pic>
      <p:pic>
        <p:nvPicPr>
          <p:cNvPr id="15" name="Picture 14">
            <a:extLst>
              <a:ext uri="{FF2B5EF4-FFF2-40B4-BE49-F238E27FC236}">
                <a16:creationId xmlns:a16="http://schemas.microsoft.com/office/drawing/2014/main" id="{D31E2311-599B-2112-223C-DFEACB2225D6}"/>
              </a:ext>
            </a:extLst>
          </p:cNvPr>
          <p:cNvPicPr>
            <a:picLocks noChangeAspect="1"/>
          </p:cNvPicPr>
          <p:nvPr/>
        </p:nvPicPr>
        <p:blipFill>
          <a:blip r:embed="rId5"/>
          <a:stretch>
            <a:fillRect/>
          </a:stretch>
        </p:blipFill>
        <p:spPr>
          <a:xfrm>
            <a:off x="4099822" y="1215732"/>
            <a:ext cx="2599802" cy="1356418"/>
          </a:xfrm>
          <a:prstGeom prst="rect">
            <a:avLst/>
          </a:prstGeom>
        </p:spPr>
      </p:pic>
      <p:pic>
        <p:nvPicPr>
          <p:cNvPr id="17" name="Picture 16">
            <a:extLst>
              <a:ext uri="{FF2B5EF4-FFF2-40B4-BE49-F238E27FC236}">
                <a16:creationId xmlns:a16="http://schemas.microsoft.com/office/drawing/2014/main" id="{324DDAAA-4585-CE87-6FB3-831FDD4221FD}"/>
              </a:ext>
            </a:extLst>
          </p:cNvPr>
          <p:cNvPicPr>
            <a:picLocks noChangeAspect="1"/>
          </p:cNvPicPr>
          <p:nvPr/>
        </p:nvPicPr>
        <p:blipFill>
          <a:blip r:embed="rId6"/>
          <a:stretch>
            <a:fillRect/>
          </a:stretch>
        </p:blipFill>
        <p:spPr>
          <a:xfrm>
            <a:off x="7399664" y="2579101"/>
            <a:ext cx="1827067" cy="1817297"/>
          </a:xfrm>
          <a:prstGeom prst="rect">
            <a:avLst/>
          </a:prstGeom>
        </p:spPr>
      </p:pic>
      <p:pic>
        <p:nvPicPr>
          <p:cNvPr id="19" name="Picture 18">
            <a:extLst>
              <a:ext uri="{FF2B5EF4-FFF2-40B4-BE49-F238E27FC236}">
                <a16:creationId xmlns:a16="http://schemas.microsoft.com/office/drawing/2014/main" id="{35C7E830-AE85-31D2-0601-D34B879D0B4B}"/>
              </a:ext>
            </a:extLst>
          </p:cNvPr>
          <p:cNvPicPr>
            <a:picLocks noChangeAspect="1"/>
          </p:cNvPicPr>
          <p:nvPr/>
        </p:nvPicPr>
        <p:blipFill>
          <a:blip r:embed="rId7"/>
          <a:stretch>
            <a:fillRect/>
          </a:stretch>
        </p:blipFill>
        <p:spPr>
          <a:xfrm>
            <a:off x="6889373" y="1145378"/>
            <a:ext cx="2714934" cy="1386849"/>
          </a:xfrm>
          <a:prstGeom prst="rect">
            <a:avLst/>
          </a:prstGeom>
        </p:spPr>
      </p:pic>
      <p:pic>
        <p:nvPicPr>
          <p:cNvPr id="21" name="Picture 20">
            <a:extLst>
              <a:ext uri="{FF2B5EF4-FFF2-40B4-BE49-F238E27FC236}">
                <a16:creationId xmlns:a16="http://schemas.microsoft.com/office/drawing/2014/main" id="{8B4FF4BB-DC3A-8ACD-EF12-2D6720EA724E}"/>
              </a:ext>
            </a:extLst>
          </p:cNvPr>
          <p:cNvPicPr>
            <a:picLocks noChangeAspect="1"/>
          </p:cNvPicPr>
          <p:nvPr/>
        </p:nvPicPr>
        <p:blipFill>
          <a:blip r:embed="rId8"/>
          <a:stretch>
            <a:fillRect/>
          </a:stretch>
        </p:blipFill>
        <p:spPr>
          <a:xfrm>
            <a:off x="9679696" y="1187812"/>
            <a:ext cx="2658690" cy="1301980"/>
          </a:xfrm>
          <a:prstGeom prst="rect">
            <a:avLst/>
          </a:prstGeom>
        </p:spPr>
      </p:pic>
      <p:pic>
        <p:nvPicPr>
          <p:cNvPr id="23" name="Picture 22">
            <a:extLst>
              <a:ext uri="{FF2B5EF4-FFF2-40B4-BE49-F238E27FC236}">
                <a16:creationId xmlns:a16="http://schemas.microsoft.com/office/drawing/2014/main" id="{C6CEB991-F0D9-5638-CED6-6522E6FEACBF}"/>
              </a:ext>
            </a:extLst>
          </p:cNvPr>
          <p:cNvPicPr>
            <a:picLocks noChangeAspect="1"/>
          </p:cNvPicPr>
          <p:nvPr/>
        </p:nvPicPr>
        <p:blipFill>
          <a:blip r:embed="rId9"/>
          <a:stretch>
            <a:fillRect/>
          </a:stretch>
        </p:blipFill>
        <p:spPr>
          <a:xfrm>
            <a:off x="10041623" y="2622359"/>
            <a:ext cx="1827067" cy="1774039"/>
          </a:xfrm>
          <a:prstGeom prst="rect">
            <a:avLst/>
          </a:prstGeom>
        </p:spPr>
      </p:pic>
      <p:pic>
        <p:nvPicPr>
          <p:cNvPr id="25" name="Picture 24">
            <a:extLst>
              <a:ext uri="{FF2B5EF4-FFF2-40B4-BE49-F238E27FC236}">
                <a16:creationId xmlns:a16="http://schemas.microsoft.com/office/drawing/2014/main" id="{6DC89889-6440-0EF9-2864-CB0AAC0EC7D9}"/>
              </a:ext>
            </a:extLst>
          </p:cNvPr>
          <p:cNvPicPr>
            <a:picLocks noChangeAspect="1"/>
          </p:cNvPicPr>
          <p:nvPr/>
        </p:nvPicPr>
        <p:blipFill>
          <a:blip r:embed="rId10"/>
          <a:stretch>
            <a:fillRect/>
          </a:stretch>
        </p:blipFill>
        <p:spPr>
          <a:xfrm>
            <a:off x="3547812" y="4477316"/>
            <a:ext cx="4442638" cy="2470612"/>
          </a:xfrm>
          <a:prstGeom prst="rect">
            <a:avLst/>
          </a:prstGeom>
        </p:spPr>
      </p:pic>
    </p:spTree>
    <p:extLst>
      <p:ext uri="{BB962C8B-B14F-4D97-AF65-F5344CB8AC3E}">
        <p14:creationId xmlns:p14="http://schemas.microsoft.com/office/powerpoint/2010/main" val="1471302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C1299-2A03-916C-6FB3-6E842AC4F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367B4A-07C8-3E28-CD69-D30B8D1735DE}"/>
              </a:ext>
            </a:extLst>
          </p:cNvPr>
          <p:cNvSpPr>
            <a:spLocks noGrp="1"/>
          </p:cNvSpPr>
          <p:nvPr>
            <p:ph type="title"/>
          </p:nvPr>
        </p:nvSpPr>
        <p:spPr>
          <a:xfrm>
            <a:off x="1036226" y="6198"/>
            <a:ext cx="7958331" cy="1077229"/>
          </a:xfrm>
        </p:spPr>
        <p:txBody>
          <a:bodyPr/>
          <a:lstStyle/>
          <a:p>
            <a:pPr algn="l"/>
            <a:r>
              <a:rPr lang="en-US" dirty="0"/>
              <a:t>Results - CELEB</a:t>
            </a:r>
          </a:p>
        </p:txBody>
      </p:sp>
      <p:graphicFrame>
        <p:nvGraphicFramePr>
          <p:cNvPr id="7" name="Content Placeholder 6">
            <a:extLst>
              <a:ext uri="{FF2B5EF4-FFF2-40B4-BE49-F238E27FC236}">
                <a16:creationId xmlns:a16="http://schemas.microsoft.com/office/drawing/2014/main" id="{4513FC13-05EC-DE58-F649-75665EE66129}"/>
              </a:ext>
            </a:extLst>
          </p:cNvPr>
          <p:cNvGraphicFramePr>
            <a:graphicFrameLocks noGrp="1"/>
          </p:cNvGraphicFramePr>
          <p:nvPr>
            <p:ph idx="1"/>
            <p:extLst>
              <p:ext uri="{D42A27DB-BD31-4B8C-83A1-F6EECF244321}">
                <p14:modId xmlns:p14="http://schemas.microsoft.com/office/powerpoint/2010/main" val="2865526760"/>
              </p:ext>
            </p:extLst>
          </p:nvPr>
        </p:nvGraphicFramePr>
        <p:xfrm>
          <a:off x="0" y="534572"/>
          <a:ext cx="12192000" cy="3427828"/>
        </p:xfrm>
        <a:graphic>
          <a:graphicData uri="http://schemas.openxmlformats.org/drawingml/2006/table">
            <a:tbl>
              <a:tblPr firstRow="1" bandRow="1">
                <a:tableStyleId>{073A0DAA-6AF3-43AB-8588-CEC1D06C72B9}</a:tableStyleId>
              </a:tblPr>
              <a:tblGrid>
                <a:gridCol w="928468">
                  <a:extLst>
                    <a:ext uri="{9D8B030D-6E8A-4147-A177-3AD203B41FA5}">
                      <a16:colId xmlns:a16="http://schemas.microsoft.com/office/drawing/2014/main" val="1644354240"/>
                    </a:ext>
                  </a:extLst>
                </a:gridCol>
                <a:gridCol w="2926080">
                  <a:extLst>
                    <a:ext uri="{9D8B030D-6E8A-4147-A177-3AD203B41FA5}">
                      <a16:colId xmlns:a16="http://schemas.microsoft.com/office/drawing/2014/main" val="834473888"/>
                    </a:ext>
                  </a:extLst>
                </a:gridCol>
                <a:gridCol w="2912012">
                  <a:extLst>
                    <a:ext uri="{9D8B030D-6E8A-4147-A177-3AD203B41FA5}">
                      <a16:colId xmlns:a16="http://schemas.microsoft.com/office/drawing/2014/main" val="3116496093"/>
                    </a:ext>
                  </a:extLst>
                </a:gridCol>
                <a:gridCol w="2813538">
                  <a:extLst>
                    <a:ext uri="{9D8B030D-6E8A-4147-A177-3AD203B41FA5}">
                      <a16:colId xmlns:a16="http://schemas.microsoft.com/office/drawing/2014/main" val="798436568"/>
                    </a:ext>
                  </a:extLst>
                </a:gridCol>
                <a:gridCol w="2611902">
                  <a:extLst>
                    <a:ext uri="{9D8B030D-6E8A-4147-A177-3AD203B41FA5}">
                      <a16:colId xmlns:a16="http://schemas.microsoft.com/office/drawing/2014/main" val="369931154"/>
                    </a:ext>
                  </a:extLst>
                </a:gridCol>
              </a:tblGrid>
              <a:tr h="464234">
                <a:tc>
                  <a:txBody>
                    <a:bodyPr/>
                    <a:lstStyle/>
                    <a:p>
                      <a:endParaRPr lang="en-US" dirty="0"/>
                    </a:p>
                  </a:txBody>
                  <a:tcPr/>
                </a:tc>
                <a:tc>
                  <a:txBody>
                    <a:bodyPr/>
                    <a:lstStyle/>
                    <a:p>
                      <a:r>
                        <a:rPr lang="en-US" dirty="0"/>
                        <a:t>Discriminator = 1</a:t>
                      </a:r>
                    </a:p>
                  </a:txBody>
                  <a:tcPr/>
                </a:tc>
                <a:tc>
                  <a:txBody>
                    <a:bodyPr/>
                    <a:lstStyle/>
                    <a:p>
                      <a:r>
                        <a:rPr lang="en-US" dirty="0"/>
                        <a:t>Discriminator = 2</a:t>
                      </a:r>
                    </a:p>
                  </a:txBody>
                  <a:tcPr/>
                </a:tc>
                <a:tc>
                  <a:txBody>
                    <a:bodyPr/>
                    <a:lstStyle/>
                    <a:p>
                      <a:r>
                        <a:rPr lang="en-US" dirty="0"/>
                        <a:t>Discriminator = 3</a:t>
                      </a:r>
                    </a:p>
                  </a:txBody>
                  <a:tcPr/>
                </a:tc>
                <a:tc>
                  <a:txBody>
                    <a:bodyPr/>
                    <a:lstStyle/>
                    <a:p>
                      <a:r>
                        <a:rPr lang="en-US" dirty="0"/>
                        <a:t>Discriminator = 4</a:t>
                      </a:r>
                    </a:p>
                  </a:txBody>
                  <a:tcPr/>
                </a:tc>
                <a:extLst>
                  <a:ext uri="{0D108BD9-81ED-4DB2-BD59-A6C34878D82A}">
                    <a16:rowId xmlns:a16="http://schemas.microsoft.com/office/drawing/2014/main" val="1795926498"/>
                  </a:ext>
                </a:extLst>
              </a:tr>
              <a:tr h="1481797">
                <a:tc>
                  <a:txBody>
                    <a:bodyPr/>
                    <a:lstStyle/>
                    <a:p>
                      <a:r>
                        <a:rPr lang="en-US" dirty="0"/>
                        <a:t>Loss</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263161417"/>
                  </a:ext>
                </a:extLst>
              </a:tr>
              <a:tr h="1481797">
                <a:tc>
                  <a:txBody>
                    <a:bodyPr/>
                    <a:lstStyle/>
                    <a:p>
                      <a:r>
                        <a:rPr lang="en-US" dirty="0"/>
                        <a:t>Output</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908854475"/>
                  </a:ext>
                </a:extLst>
              </a:tr>
            </a:tbl>
          </a:graphicData>
        </a:graphic>
      </p:graphicFrame>
      <p:pic>
        <p:nvPicPr>
          <p:cNvPr id="4" name="Picture 3">
            <a:extLst>
              <a:ext uri="{FF2B5EF4-FFF2-40B4-BE49-F238E27FC236}">
                <a16:creationId xmlns:a16="http://schemas.microsoft.com/office/drawing/2014/main" id="{3A91FD4D-99A8-C78D-424E-88A814AA32AE}"/>
              </a:ext>
            </a:extLst>
          </p:cNvPr>
          <p:cNvPicPr>
            <a:picLocks noChangeAspect="1"/>
          </p:cNvPicPr>
          <p:nvPr/>
        </p:nvPicPr>
        <p:blipFill>
          <a:blip r:embed="rId2"/>
          <a:stretch>
            <a:fillRect/>
          </a:stretch>
        </p:blipFill>
        <p:spPr>
          <a:xfrm>
            <a:off x="1389367" y="2560024"/>
            <a:ext cx="1762592" cy="1772145"/>
          </a:xfrm>
          <a:prstGeom prst="rect">
            <a:avLst/>
          </a:prstGeom>
        </p:spPr>
      </p:pic>
      <p:pic>
        <p:nvPicPr>
          <p:cNvPr id="6" name="Picture 5">
            <a:extLst>
              <a:ext uri="{FF2B5EF4-FFF2-40B4-BE49-F238E27FC236}">
                <a16:creationId xmlns:a16="http://schemas.microsoft.com/office/drawing/2014/main" id="{240412AE-A3FF-EB69-D2E8-3521F60F811F}"/>
              </a:ext>
            </a:extLst>
          </p:cNvPr>
          <p:cNvPicPr>
            <a:picLocks noChangeAspect="1"/>
          </p:cNvPicPr>
          <p:nvPr/>
        </p:nvPicPr>
        <p:blipFill>
          <a:blip r:embed="rId3"/>
          <a:stretch>
            <a:fillRect/>
          </a:stretch>
        </p:blipFill>
        <p:spPr>
          <a:xfrm>
            <a:off x="1042286" y="1131299"/>
            <a:ext cx="2599803" cy="1298520"/>
          </a:xfrm>
          <a:prstGeom prst="rect">
            <a:avLst/>
          </a:prstGeom>
        </p:spPr>
      </p:pic>
      <p:pic>
        <p:nvPicPr>
          <p:cNvPr id="10" name="Picture 9">
            <a:extLst>
              <a:ext uri="{FF2B5EF4-FFF2-40B4-BE49-F238E27FC236}">
                <a16:creationId xmlns:a16="http://schemas.microsoft.com/office/drawing/2014/main" id="{FBACA6A9-506A-347C-B0A2-A1848567AF96}"/>
              </a:ext>
            </a:extLst>
          </p:cNvPr>
          <p:cNvPicPr>
            <a:picLocks noChangeAspect="1"/>
          </p:cNvPicPr>
          <p:nvPr/>
        </p:nvPicPr>
        <p:blipFill>
          <a:blip r:embed="rId4"/>
          <a:stretch>
            <a:fillRect/>
          </a:stretch>
        </p:blipFill>
        <p:spPr>
          <a:xfrm>
            <a:off x="4462453" y="2600916"/>
            <a:ext cx="1762592" cy="1748415"/>
          </a:xfrm>
          <a:prstGeom prst="rect">
            <a:avLst/>
          </a:prstGeom>
        </p:spPr>
      </p:pic>
      <p:pic>
        <p:nvPicPr>
          <p:cNvPr id="14" name="Picture 13">
            <a:extLst>
              <a:ext uri="{FF2B5EF4-FFF2-40B4-BE49-F238E27FC236}">
                <a16:creationId xmlns:a16="http://schemas.microsoft.com/office/drawing/2014/main" id="{E1A6610F-8C92-5E98-BCDE-77AA97B82D3D}"/>
              </a:ext>
            </a:extLst>
          </p:cNvPr>
          <p:cNvPicPr>
            <a:picLocks noChangeAspect="1"/>
          </p:cNvPicPr>
          <p:nvPr/>
        </p:nvPicPr>
        <p:blipFill>
          <a:blip r:embed="rId5"/>
          <a:stretch>
            <a:fillRect/>
          </a:stretch>
        </p:blipFill>
        <p:spPr>
          <a:xfrm>
            <a:off x="4079239" y="1104095"/>
            <a:ext cx="2529020" cy="1352927"/>
          </a:xfrm>
          <a:prstGeom prst="rect">
            <a:avLst/>
          </a:prstGeom>
        </p:spPr>
      </p:pic>
      <p:pic>
        <p:nvPicPr>
          <p:cNvPr id="22" name="Picture 21">
            <a:extLst>
              <a:ext uri="{FF2B5EF4-FFF2-40B4-BE49-F238E27FC236}">
                <a16:creationId xmlns:a16="http://schemas.microsoft.com/office/drawing/2014/main" id="{559F5096-1B58-5E43-7474-959ED98DB876}"/>
              </a:ext>
            </a:extLst>
          </p:cNvPr>
          <p:cNvPicPr>
            <a:picLocks noChangeAspect="1"/>
          </p:cNvPicPr>
          <p:nvPr/>
        </p:nvPicPr>
        <p:blipFill>
          <a:blip r:embed="rId6"/>
          <a:stretch>
            <a:fillRect/>
          </a:stretch>
        </p:blipFill>
        <p:spPr>
          <a:xfrm>
            <a:off x="6834184" y="1095236"/>
            <a:ext cx="2703711" cy="1388314"/>
          </a:xfrm>
          <a:prstGeom prst="rect">
            <a:avLst/>
          </a:prstGeom>
        </p:spPr>
      </p:pic>
      <p:pic>
        <p:nvPicPr>
          <p:cNvPr id="25" name="Picture 24">
            <a:extLst>
              <a:ext uri="{FF2B5EF4-FFF2-40B4-BE49-F238E27FC236}">
                <a16:creationId xmlns:a16="http://schemas.microsoft.com/office/drawing/2014/main" id="{017FE0AC-47ED-1D93-DD66-E2E4E9958BF6}"/>
              </a:ext>
            </a:extLst>
          </p:cNvPr>
          <p:cNvPicPr>
            <a:picLocks noChangeAspect="1"/>
          </p:cNvPicPr>
          <p:nvPr/>
        </p:nvPicPr>
        <p:blipFill>
          <a:blip r:embed="rId7"/>
          <a:stretch>
            <a:fillRect/>
          </a:stretch>
        </p:blipFill>
        <p:spPr>
          <a:xfrm>
            <a:off x="7252119" y="2536578"/>
            <a:ext cx="1867839" cy="1837873"/>
          </a:xfrm>
          <a:prstGeom prst="rect">
            <a:avLst/>
          </a:prstGeom>
        </p:spPr>
      </p:pic>
      <p:pic>
        <p:nvPicPr>
          <p:cNvPr id="27" name="Picture 26">
            <a:extLst>
              <a:ext uri="{FF2B5EF4-FFF2-40B4-BE49-F238E27FC236}">
                <a16:creationId xmlns:a16="http://schemas.microsoft.com/office/drawing/2014/main" id="{968D6FC9-AC72-60C5-4315-BF900394B035}"/>
              </a:ext>
            </a:extLst>
          </p:cNvPr>
          <p:cNvPicPr>
            <a:picLocks noChangeAspect="1"/>
          </p:cNvPicPr>
          <p:nvPr/>
        </p:nvPicPr>
        <p:blipFill>
          <a:blip r:embed="rId8"/>
          <a:stretch>
            <a:fillRect/>
          </a:stretch>
        </p:blipFill>
        <p:spPr>
          <a:xfrm>
            <a:off x="9637759" y="1117672"/>
            <a:ext cx="2780166" cy="1394543"/>
          </a:xfrm>
          <a:prstGeom prst="rect">
            <a:avLst/>
          </a:prstGeom>
        </p:spPr>
      </p:pic>
      <p:pic>
        <p:nvPicPr>
          <p:cNvPr id="29" name="Picture 28">
            <a:extLst>
              <a:ext uri="{FF2B5EF4-FFF2-40B4-BE49-F238E27FC236}">
                <a16:creationId xmlns:a16="http://schemas.microsoft.com/office/drawing/2014/main" id="{BE7633DF-5D48-0D64-8B65-4AB697B1E911}"/>
              </a:ext>
            </a:extLst>
          </p:cNvPr>
          <p:cNvPicPr>
            <a:picLocks noChangeAspect="1"/>
          </p:cNvPicPr>
          <p:nvPr/>
        </p:nvPicPr>
        <p:blipFill>
          <a:blip r:embed="rId9"/>
          <a:stretch>
            <a:fillRect/>
          </a:stretch>
        </p:blipFill>
        <p:spPr>
          <a:xfrm>
            <a:off x="10016607" y="2571001"/>
            <a:ext cx="1867839" cy="1847915"/>
          </a:xfrm>
          <a:prstGeom prst="rect">
            <a:avLst/>
          </a:prstGeom>
        </p:spPr>
      </p:pic>
      <p:pic>
        <p:nvPicPr>
          <p:cNvPr id="31" name="Picture 30">
            <a:extLst>
              <a:ext uri="{FF2B5EF4-FFF2-40B4-BE49-F238E27FC236}">
                <a16:creationId xmlns:a16="http://schemas.microsoft.com/office/drawing/2014/main" id="{B6979E1C-ACE8-6595-D796-4532C7A9E8EA}"/>
              </a:ext>
            </a:extLst>
          </p:cNvPr>
          <p:cNvPicPr>
            <a:picLocks noChangeAspect="1"/>
          </p:cNvPicPr>
          <p:nvPr/>
        </p:nvPicPr>
        <p:blipFill>
          <a:blip r:embed="rId10"/>
          <a:stretch>
            <a:fillRect/>
          </a:stretch>
        </p:blipFill>
        <p:spPr>
          <a:xfrm>
            <a:off x="4059886" y="4498549"/>
            <a:ext cx="4330317" cy="2439412"/>
          </a:xfrm>
          <a:prstGeom prst="rect">
            <a:avLst/>
          </a:prstGeom>
        </p:spPr>
      </p:pic>
    </p:spTree>
    <p:extLst>
      <p:ext uri="{BB962C8B-B14F-4D97-AF65-F5344CB8AC3E}">
        <p14:creationId xmlns:p14="http://schemas.microsoft.com/office/powerpoint/2010/main" val="3198768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63E9F-CF07-39C4-7CC9-B42EA7D51249}"/>
              </a:ext>
            </a:extLst>
          </p:cNvPr>
          <p:cNvSpPr>
            <a:spLocks noGrp="1"/>
          </p:cNvSpPr>
          <p:nvPr>
            <p:ph type="title"/>
          </p:nvPr>
        </p:nvSpPr>
        <p:spPr>
          <a:xfrm>
            <a:off x="1416054" y="570692"/>
            <a:ext cx="7958331" cy="1077229"/>
          </a:xfrm>
        </p:spPr>
        <p:txBody>
          <a:bodyPr/>
          <a:lstStyle/>
          <a:p>
            <a:pPr algn="l"/>
            <a:r>
              <a:rPr lang="en-US" dirty="0"/>
              <a:t>Challenges </a:t>
            </a:r>
          </a:p>
        </p:txBody>
      </p:sp>
      <p:sp>
        <p:nvSpPr>
          <p:cNvPr id="3" name="Content Placeholder 2">
            <a:extLst>
              <a:ext uri="{FF2B5EF4-FFF2-40B4-BE49-F238E27FC236}">
                <a16:creationId xmlns:a16="http://schemas.microsoft.com/office/drawing/2014/main" id="{4C112402-A3BE-E57C-B146-45F11169AB23}"/>
              </a:ext>
            </a:extLst>
          </p:cNvPr>
          <p:cNvSpPr>
            <a:spLocks noGrp="1"/>
          </p:cNvSpPr>
          <p:nvPr>
            <p:ph idx="1"/>
          </p:nvPr>
        </p:nvSpPr>
        <p:spPr>
          <a:xfrm>
            <a:off x="928468" y="1923445"/>
            <a:ext cx="10044332" cy="4281243"/>
          </a:xfrm>
        </p:spPr>
        <p:txBody>
          <a:bodyPr>
            <a:normAutofit fontScale="92500" lnSpcReduction="20000"/>
          </a:bodyPr>
          <a:lstStyle/>
          <a:p>
            <a:r>
              <a:rPr lang="en-US" dirty="0"/>
              <a:t>Selecting appropriate convolution layers for each discriminator was not easy. The goal was to extract meaningful image features that the generator could learn effectively. Kernel sizes were varied from </a:t>
            </a:r>
            <a:r>
              <a:rPr lang="en-US" b="1" dirty="0"/>
              <a:t>3×3 to 6×6</a:t>
            </a:r>
            <a:r>
              <a:rPr lang="en-US" dirty="0"/>
              <a:t>, beyond the typical 3×3 and 5×5, to analyze feature granularity.</a:t>
            </a:r>
          </a:p>
          <a:p>
            <a:r>
              <a:rPr lang="en-US" dirty="0"/>
              <a:t>Datasets (MNIST, CIFAR-10, </a:t>
            </a:r>
            <a:r>
              <a:rPr lang="en-US" dirty="0" err="1"/>
              <a:t>CelebA</a:t>
            </a:r>
            <a:r>
              <a:rPr lang="en-US" dirty="0"/>
              <a:t>) had different input formats and resolutions. All images were upscaled to 64×64 to preserve features and standardize input size. MNIST (originally grayscale) was converted to 2 by duplicating channels to match the generator/discriminator inputs.</a:t>
            </a:r>
          </a:p>
          <a:p>
            <a:r>
              <a:rPr lang="en-US" dirty="0"/>
              <a:t>Google </a:t>
            </a:r>
            <a:r>
              <a:rPr lang="en-US" dirty="0" err="1"/>
              <a:t>Colab</a:t>
            </a:r>
            <a:r>
              <a:rPr lang="en-US" dirty="0"/>
              <a:t> (free tier) imposed runtime limits, causing training to halt unexpectedly. To overcome this, training was migrated to on-campus GPU systems, involving coordination across three different machines. This experience highlighted the importance of resource planning and reaching out for technical support when needed.</a:t>
            </a:r>
          </a:p>
          <a:p>
            <a:endParaRPr lang="en-US" dirty="0"/>
          </a:p>
          <a:p>
            <a:endParaRPr lang="en-US" dirty="0"/>
          </a:p>
          <a:p>
            <a:endParaRPr lang="en-US" dirty="0"/>
          </a:p>
        </p:txBody>
      </p:sp>
      <p:sp>
        <p:nvSpPr>
          <p:cNvPr id="4" name="Rectangle 1">
            <a:extLst>
              <a:ext uri="{FF2B5EF4-FFF2-40B4-BE49-F238E27FC236}">
                <a16:creationId xmlns:a16="http://schemas.microsoft.com/office/drawing/2014/main" id="{2FB4D27B-7D04-977C-3A0B-5BA001412994}"/>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92718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EC010-B67D-50A1-27B7-AE9930730763}"/>
              </a:ext>
            </a:extLst>
          </p:cNvPr>
          <p:cNvSpPr>
            <a:spLocks noGrp="1"/>
          </p:cNvSpPr>
          <p:nvPr>
            <p:ph type="title"/>
          </p:nvPr>
        </p:nvSpPr>
        <p:spPr>
          <a:xfrm>
            <a:off x="2116834" y="269441"/>
            <a:ext cx="7958331" cy="1077229"/>
          </a:xfrm>
        </p:spPr>
        <p:txBody>
          <a:bodyPr/>
          <a:lstStyle/>
          <a:p>
            <a:pPr algn="l"/>
            <a:r>
              <a:rPr lang="en-US" dirty="0"/>
              <a:t>Future Directions</a:t>
            </a:r>
          </a:p>
        </p:txBody>
      </p:sp>
      <p:sp>
        <p:nvSpPr>
          <p:cNvPr id="3" name="Content Placeholder 2">
            <a:extLst>
              <a:ext uri="{FF2B5EF4-FFF2-40B4-BE49-F238E27FC236}">
                <a16:creationId xmlns:a16="http://schemas.microsoft.com/office/drawing/2014/main" id="{F56B360F-09DC-430C-F0D9-BD5186B5CC7F}"/>
              </a:ext>
            </a:extLst>
          </p:cNvPr>
          <p:cNvSpPr>
            <a:spLocks noGrp="1"/>
          </p:cNvSpPr>
          <p:nvPr>
            <p:ph idx="1"/>
          </p:nvPr>
        </p:nvSpPr>
        <p:spPr>
          <a:xfrm>
            <a:off x="1758462" y="914401"/>
            <a:ext cx="9326880" cy="5359790"/>
          </a:xfrm>
        </p:spPr>
        <p:txBody>
          <a:bodyPr/>
          <a:lstStyle/>
          <a:p>
            <a:r>
              <a:rPr lang="en-US" dirty="0"/>
              <a:t>The current binary cross-entropy loss may not be optimal for all datasets. Future work could involve a comparative study of various GAN objective functions (e.g., WGAN, LSGAN, Hinge loss). Objective functions may be tailored per dataset to balance quality and efficiency.</a:t>
            </a:r>
          </a:p>
          <a:p>
            <a:r>
              <a:rPr lang="en-US" dirty="0"/>
              <a:t>Inspired by the GMAN paper, we could experiment with using only the strictest (most discriminating) of the four discriminators. This may lead to stronger gradients and sharper image generation, potentially improving sample realism.</a:t>
            </a:r>
          </a:p>
          <a:p>
            <a:r>
              <a:rPr lang="en-US" dirty="0"/>
              <a:t>Another direction is to reduce image resolution (e.g., to 16×16) to test performance at low-complexity scales, speed up training and reduce compute cost and also investigate how much structural fidelity is retained </a:t>
            </a:r>
          </a:p>
          <a:p>
            <a:endParaRPr lang="en-US" dirty="0"/>
          </a:p>
        </p:txBody>
      </p:sp>
    </p:spTree>
    <p:extLst>
      <p:ext uri="{BB962C8B-B14F-4D97-AF65-F5344CB8AC3E}">
        <p14:creationId xmlns:p14="http://schemas.microsoft.com/office/powerpoint/2010/main" val="1700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1B4C2-64D3-FF22-4026-EF267633C547}"/>
              </a:ext>
            </a:extLst>
          </p:cNvPr>
          <p:cNvSpPr>
            <a:spLocks noGrp="1"/>
          </p:cNvSpPr>
          <p:nvPr>
            <p:ph type="title"/>
          </p:nvPr>
        </p:nvSpPr>
        <p:spPr/>
        <p:txBody>
          <a:bodyPr/>
          <a:lstStyle/>
          <a:p>
            <a:pPr algn="l"/>
            <a:r>
              <a:rPr lang="en-US" dirty="0"/>
              <a:t>References</a:t>
            </a:r>
          </a:p>
        </p:txBody>
      </p:sp>
      <p:sp>
        <p:nvSpPr>
          <p:cNvPr id="3" name="Content Placeholder 2">
            <a:extLst>
              <a:ext uri="{FF2B5EF4-FFF2-40B4-BE49-F238E27FC236}">
                <a16:creationId xmlns:a16="http://schemas.microsoft.com/office/drawing/2014/main" id="{4C5EBF91-75C7-7D46-F58F-CD99EDAFA25F}"/>
              </a:ext>
            </a:extLst>
          </p:cNvPr>
          <p:cNvSpPr>
            <a:spLocks noGrp="1"/>
          </p:cNvSpPr>
          <p:nvPr>
            <p:ph idx="1"/>
          </p:nvPr>
        </p:nvSpPr>
        <p:spPr>
          <a:xfrm>
            <a:off x="1901402" y="1658220"/>
            <a:ext cx="8424284" cy="4630037"/>
          </a:xfrm>
        </p:spPr>
        <p:txBody>
          <a:bodyPr>
            <a:normAutofit fontScale="85000" lnSpcReduction="10000"/>
          </a:bodyPr>
          <a:lstStyle/>
          <a:p>
            <a:r>
              <a:rPr lang="en-US" dirty="0"/>
              <a:t>[1]	A. Ghosh, V. </a:t>
            </a:r>
            <a:r>
              <a:rPr lang="en-US" dirty="0" err="1"/>
              <a:t>Kulharia</a:t>
            </a:r>
            <a:r>
              <a:rPr lang="en-US" dirty="0"/>
              <a:t>, V. Namboodiri, P. H. S. Torr, and P. K. </a:t>
            </a:r>
            <a:r>
              <a:rPr lang="en-US" dirty="0" err="1"/>
              <a:t>Dokania</a:t>
            </a:r>
            <a:r>
              <a:rPr lang="en-US" dirty="0"/>
              <a:t>, “Multi-Agent Diverse Generative Adversarial Networks.”</a:t>
            </a:r>
          </a:p>
          <a:p>
            <a:r>
              <a:rPr lang="en-US" dirty="0"/>
              <a:t>[2]	J. Yu and J. Liu, “Multiple Granularities Generative Adversarial Network for Recognition of Wafer Map Defects,” IEEE Trans </a:t>
            </a:r>
            <a:r>
              <a:rPr lang="en-US" dirty="0" err="1"/>
              <a:t>Industr</a:t>
            </a:r>
            <a:r>
              <a:rPr lang="en-US" dirty="0"/>
              <a:t> Inform, vol. 18, no. 3, pp. 1674–1683, Mar. 2022, </a:t>
            </a:r>
            <a:r>
              <a:rPr lang="en-US" dirty="0" err="1"/>
              <a:t>doi</a:t>
            </a:r>
            <a:r>
              <a:rPr lang="en-US" dirty="0"/>
              <a:t>: 10.1109/TII.2021.3092372.</a:t>
            </a:r>
          </a:p>
          <a:p>
            <a:r>
              <a:rPr lang="en-US" dirty="0"/>
              <a:t>[3]	T. Pandeva and M. Schubert, “MMGAN: Generative Adversarial Networks for Multi-Modal Distributions,” Nov. 2019, [Online]. Available: http://arxiv.org/abs/1911.06663</a:t>
            </a:r>
          </a:p>
          <a:p>
            <a:r>
              <a:rPr lang="en-US" dirty="0"/>
              <a:t>[4]	I. </a:t>
            </a:r>
            <a:r>
              <a:rPr lang="en-US" dirty="0" err="1"/>
              <a:t>Durugkar</a:t>
            </a:r>
            <a:r>
              <a:rPr lang="en-US" dirty="0"/>
              <a:t>, I. </a:t>
            </a:r>
            <a:r>
              <a:rPr lang="en-US" dirty="0" err="1"/>
              <a:t>Gemp</a:t>
            </a:r>
            <a:r>
              <a:rPr lang="en-US" dirty="0"/>
              <a:t>, and S. Mahadevan, “Generative Multi-Adversarial Networks,” Nov. 2016, [Online]. Available: http://arxiv.org/abs/1611.01673</a:t>
            </a:r>
          </a:p>
          <a:p>
            <a:r>
              <a:rPr lang="en-US" dirty="0"/>
              <a:t> </a:t>
            </a:r>
          </a:p>
          <a:p>
            <a:endParaRPr lang="en-US" dirty="0"/>
          </a:p>
        </p:txBody>
      </p:sp>
    </p:spTree>
    <p:extLst>
      <p:ext uri="{BB962C8B-B14F-4D97-AF65-F5344CB8AC3E}">
        <p14:creationId xmlns:p14="http://schemas.microsoft.com/office/powerpoint/2010/main" val="2903603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D0477-7366-5D2E-5439-7BD8D71B37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C52C54-DF70-5251-FB18-44FE87266630}"/>
              </a:ext>
            </a:extLst>
          </p:cNvPr>
          <p:cNvSpPr>
            <a:spLocks noGrp="1"/>
          </p:cNvSpPr>
          <p:nvPr>
            <p:ph idx="1"/>
          </p:nvPr>
        </p:nvSpPr>
        <p:spPr/>
        <p:txBody>
          <a:bodyPr/>
          <a:lstStyle/>
          <a:p>
            <a:r>
              <a:rPr lang="en-US" dirty="0"/>
              <a:t>THANK YOU!</a:t>
            </a:r>
          </a:p>
        </p:txBody>
      </p:sp>
    </p:spTree>
    <p:extLst>
      <p:ext uri="{BB962C8B-B14F-4D97-AF65-F5344CB8AC3E}">
        <p14:creationId xmlns:p14="http://schemas.microsoft.com/office/powerpoint/2010/main" val="18140786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{296639ED-1541-4085-91A6-4679B37C6EA0}tf16401375</Template>
  <TotalTime>1680</TotalTime>
  <Words>948</Words>
  <Application>Microsoft Office PowerPoint</Application>
  <PresentationFormat>Widescreen</PresentationFormat>
  <Paragraphs>90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MS Shell Dlg 2</vt:lpstr>
      <vt:lpstr>Wingdings</vt:lpstr>
      <vt:lpstr>Wingdings 3</vt:lpstr>
      <vt:lpstr>Madison</vt:lpstr>
      <vt:lpstr>Generative Multi-Adversarial Networks</vt:lpstr>
      <vt:lpstr>Content</vt:lpstr>
      <vt:lpstr>Problem Motivation</vt:lpstr>
      <vt:lpstr>Problem Setup and Formulation</vt:lpstr>
      <vt:lpstr>Problem Setup and Formulation</vt:lpstr>
      <vt:lpstr>Experiments</vt:lpstr>
      <vt:lpstr>Results - MNIST</vt:lpstr>
      <vt:lpstr>Results - CIFAR</vt:lpstr>
      <vt:lpstr>Results - CELEB</vt:lpstr>
      <vt:lpstr>Challenges </vt:lpstr>
      <vt:lpstr>Future Directions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Ato Acquah</dc:creator>
  <cp:lastModifiedBy>Michael Ato Acquah</cp:lastModifiedBy>
  <cp:revision>5</cp:revision>
  <dcterms:created xsi:type="dcterms:W3CDTF">2025-04-16T14:24:00Z</dcterms:created>
  <dcterms:modified xsi:type="dcterms:W3CDTF">2025-04-17T18:27:31Z</dcterms:modified>
</cp:coreProperties>
</file>